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9" r:id="rId3"/>
    <p:sldId id="260" r:id="rId4"/>
    <p:sldId id="268" r:id="rId5"/>
    <p:sldId id="269" r:id="rId6"/>
    <p:sldId id="270" r:id="rId7"/>
    <p:sldId id="271" r:id="rId8"/>
    <p:sldId id="273" r:id="rId9"/>
    <p:sldId id="272" r:id="rId10"/>
    <p:sldId id="274" r:id="rId11"/>
    <p:sldId id="275" r:id="rId12"/>
    <p:sldId id="276" r:id="rId13"/>
    <p:sldId id="277" r:id="rId14"/>
    <p:sldId id="278" r:id="rId15"/>
    <p:sldId id="282" r:id="rId16"/>
    <p:sldId id="283" r:id="rId17"/>
    <p:sldId id="279" r:id="rId18"/>
    <p:sldId id="280" r:id="rId19"/>
    <p:sldId id="281" r:id="rId20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15817-F00F-4DBE-B0CC-02D48623ECDA}" type="datetimeFigureOut">
              <a:rPr lang="hu-HU" smtClean="0"/>
              <a:pPr/>
              <a:t>2023. 02. 23.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508D25-A229-4A85-B4B4-7F25A73A4071}" type="slidenum">
              <a:rPr lang="hu-HU" smtClean="0"/>
              <a:pPr/>
              <a:t>‹#›</a:t>
            </a:fld>
            <a:endParaRPr 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Téglalap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Téglalap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Cím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9" name="Alcím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hu-HU" smtClean="0"/>
              <a:t>Alcím mintájának szerkesztése</a:t>
            </a:r>
            <a:endParaRPr kumimoji="0" lang="en-US"/>
          </a:p>
        </p:txBody>
      </p:sp>
      <p:sp>
        <p:nvSpPr>
          <p:cNvPr id="28" name="Dátum helye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A491BB91-A39F-4777-9318-8FD6E2B23D12}" type="datetimeFigureOut">
              <a:rPr lang="hu-HU" smtClean="0"/>
              <a:pPr/>
              <a:t>2023. 02. 23.</a:t>
            </a:fld>
            <a:endParaRPr lang="hu-HU"/>
          </a:p>
        </p:txBody>
      </p:sp>
      <p:sp>
        <p:nvSpPr>
          <p:cNvPr id="17" name="Élőláb helye 16"/>
          <p:cNvSpPr>
            <a:spLocks noGrp="1"/>
          </p:cNvSpPr>
          <p:nvPr>
            <p:ph type="ftr" sz="quarter" idx="11"/>
          </p:nvPr>
        </p:nvSpPr>
        <p:spPr>
          <a:xfrm>
            <a:off x="2085393" y="236540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29" name="Dia számának hely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17552E-8953-41D0-A793-45616C75B3F7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BB91-A39F-4777-9318-8FD6E2B23D12}" type="datetimeFigureOut">
              <a:rPr lang="hu-HU" smtClean="0"/>
              <a:pPr/>
              <a:t>2023. 02. 23.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617552E-8953-41D0-A793-45616C75B3F7}" type="slidenum">
              <a:rPr lang="hu-HU" smtClean="0"/>
              <a:pPr/>
              <a:t>‹#›</a:t>
            </a:fld>
            <a:endParaRPr lang="hu-HU"/>
          </a:p>
        </p:txBody>
      </p:sp>
      <p:sp>
        <p:nvSpPr>
          <p:cNvPr id="8" name="Tartalom helye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371601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hu-HU" smtClean="0"/>
              <a:t>Mintaszöveg szerkesztése</a:t>
            </a:r>
          </a:p>
        </p:txBody>
      </p:sp>
      <p:sp>
        <p:nvSpPr>
          <p:cNvPr id="7" name="Téglalap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églalap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églalap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12" name="Dátum hely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BB91-A39F-4777-9318-8FD6E2B23D12}" type="datetimeFigureOut">
              <a:rPr lang="hu-HU" smtClean="0"/>
              <a:pPr/>
              <a:t>2023. 02. 23.</a:t>
            </a:fld>
            <a:endParaRPr lang="hu-HU"/>
          </a:p>
        </p:txBody>
      </p:sp>
      <p:sp>
        <p:nvSpPr>
          <p:cNvPr id="13" name="Dia számának hely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A617552E-8953-41D0-A793-45616C75B3F7}" type="slidenum">
              <a:rPr lang="hu-HU" smtClean="0"/>
              <a:pPr/>
              <a:t>‹#›</a:t>
            </a:fld>
            <a:endParaRPr lang="hu-HU"/>
          </a:p>
        </p:txBody>
      </p:sp>
      <p:sp>
        <p:nvSpPr>
          <p:cNvPr id="14" name="Élőláb hely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hu-H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9" name="Tartalom helye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11" name="Tartalom helye 10"/>
          <p:cNvSpPr>
            <a:spLocks noGrp="1"/>
          </p:cNvSpPr>
          <p:nvPr>
            <p:ph sz="quarter" idx="2"/>
          </p:nvPr>
        </p:nvSpPr>
        <p:spPr>
          <a:xfrm>
            <a:off x="4844902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8" name="Dátum helye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491BB91-A39F-4777-9318-8FD6E2B23D12}" type="datetimeFigureOut">
              <a:rPr lang="hu-HU" smtClean="0"/>
              <a:pPr/>
              <a:t>2023. 02. 23.</a:t>
            </a:fld>
            <a:endParaRPr lang="hu-HU"/>
          </a:p>
        </p:txBody>
      </p:sp>
      <p:sp>
        <p:nvSpPr>
          <p:cNvPr id="10" name="Dia számának hely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A617552E-8953-41D0-A793-45616C75B3F7}" type="slidenum">
              <a:rPr lang="hu-HU" smtClean="0"/>
              <a:pPr/>
              <a:t>‹#›</a:t>
            </a:fld>
            <a:endParaRPr lang="hu-HU"/>
          </a:p>
        </p:txBody>
      </p:sp>
      <p:sp>
        <p:nvSpPr>
          <p:cNvPr id="12" name="Élőláb helye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hu-H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11" name="Tartalom helye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13" name="Tartalom helye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10" name="Dátum helye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491BB91-A39F-4777-9318-8FD6E2B23D12}" type="datetimeFigureOut">
              <a:rPr lang="hu-HU" smtClean="0"/>
              <a:pPr/>
              <a:t>2023. 02. 23.</a:t>
            </a:fld>
            <a:endParaRPr lang="hu-HU"/>
          </a:p>
        </p:txBody>
      </p:sp>
      <p:sp>
        <p:nvSpPr>
          <p:cNvPr id="12" name="Dia számának hely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A617552E-8953-41D0-A793-45616C75B3F7}" type="slidenum">
              <a:rPr lang="hu-HU" smtClean="0"/>
              <a:pPr/>
              <a:t>‹#›</a:t>
            </a:fld>
            <a:endParaRPr lang="hu-HU"/>
          </a:p>
        </p:txBody>
      </p:sp>
      <p:sp>
        <p:nvSpPr>
          <p:cNvPr id="14" name="Élőláb helye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hu-HU"/>
          </a:p>
        </p:txBody>
      </p:sp>
      <p:sp>
        <p:nvSpPr>
          <p:cNvPr id="16" name="Szöveg helye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hu-HU" smtClean="0"/>
              <a:t>Mintaszöveg szerkesztése</a:t>
            </a:r>
          </a:p>
        </p:txBody>
      </p:sp>
      <p:sp>
        <p:nvSpPr>
          <p:cNvPr id="15" name="Szöveg helye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hu-HU" smtClean="0"/>
              <a:t>Mintaszöveg szerkesztése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BB91-A39F-4777-9318-8FD6E2B23D12}" type="datetimeFigureOut">
              <a:rPr lang="hu-HU" smtClean="0"/>
              <a:pPr/>
              <a:t>2023. 02. 23.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617552E-8953-41D0-A793-45616C75B3F7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BB91-A39F-4777-9318-8FD6E2B23D12}" type="datetimeFigureOut">
              <a:rPr lang="hu-HU" smtClean="0"/>
              <a:pPr/>
              <a:t>2023. 02. 23.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17552E-8953-41D0-A793-45616C75B3F7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BB91-A39F-4777-9318-8FD6E2B23D12}" type="datetimeFigureOut">
              <a:rPr lang="hu-HU" smtClean="0"/>
              <a:pPr/>
              <a:t>2023. 02. 23.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617552E-8953-41D0-A793-45616C75B3F7}" type="slidenum">
              <a:rPr lang="hu-HU" smtClean="0"/>
              <a:pPr/>
              <a:t>‹#›</a:t>
            </a:fld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hu-HU" smtClean="0"/>
              <a:t>Mintaszöveg szerkesztése</a:t>
            </a:r>
          </a:p>
        </p:txBody>
      </p:sp>
      <p:sp>
        <p:nvSpPr>
          <p:cNvPr id="9" name="Tartalom helye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hu-HU" smtClean="0"/>
              <a:t>Mintaszöveg szerkesztése</a:t>
            </a:r>
          </a:p>
        </p:txBody>
      </p:sp>
      <p:sp>
        <p:nvSpPr>
          <p:cNvPr id="8" name="Téglalap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églalap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Téglalap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11" name="Téglalap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átum helye 11"/>
          <p:cNvSpPr>
            <a:spLocks noGrp="1"/>
          </p:cNvSpPr>
          <p:nvPr>
            <p:ph type="dt" sz="half" idx="10"/>
          </p:nvPr>
        </p:nvSpPr>
        <p:spPr>
          <a:xfrm>
            <a:off x="6248400" y="6248402"/>
            <a:ext cx="2667000" cy="365125"/>
          </a:xfrm>
        </p:spPr>
        <p:txBody>
          <a:bodyPr rtlCol="0"/>
          <a:lstStyle/>
          <a:p>
            <a:fld id="{A491BB91-A39F-4777-9318-8FD6E2B23D12}" type="datetimeFigureOut">
              <a:rPr lang="hu-HU" smtClean="0"/>
              <a:pPr/>
              <a:t>2023. 02. 23.</a:t>
            </a:fld>
            <a:endParaRPr lang="hu-HU"/>
          </a:p>
        </p:txBody>
      </p:sp>
      <p:sp>
        <p:nvSpPr>
          <p:cNvPr id="13" name="Dia számának hely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A617552E-8953-41D0-A793-45616C75B3F7}" type="slidenum">
              <a:rPr lang="hu-HU" smtClean="0"/>
              <a:pPr/>
              <a:t>‹#›</a:t>
            </a:fld>
            <a:endParaRPr lang="hu-HU"/>
          </a:p>
        </p:txBody>
      </p:sp>
      <p:sp>
        <p:nvSpPr>
          <p:cNvPr id="14" name="Élőláb helye 13"/>
          <p:cNvSpPr>
            <a:spLocks noGrp="1"/>
          </p:cNvSpPr>
          <p:nvPr>
            <p:ph type="ftr" sz="quarter" idx="12"/>
          </p:nvPr>
        </p:nvSpPr>
        <p:spPr>
          <a:xfrm>
            <a:off x="1600200" y="6248208"/>
            <a:ext cx="4572000" cy="365125"/>
          </a:xfrm>
        </p:spPr>
        <p:txBody>
          <a:bodyPr rtlCol="0"/>
          <a:lstStyle/>
          <a:p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hu-HU" smtClean="0"/>
              <a:t>Kép beszúrásához kattintson az ikonra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BB91-A39F-4777-9318-8FD6E2B23D12}" type="datetimeFigureOut">
              <a:rPr lang="hu-HU" smtClean="0"/>
              <a:pPr/>
              <a:t>2023. 02. 23.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552E-8953-41D0-A793-45616C75B3F7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553200" y="609602"/>
            <a:ext cx="2057400" cy="5516563"/>
          </a:xfrm>
        </p:spPr>
        <p:txBody>
          <a:bodyPr vert="eaVert"/>
          <a:lstStyle/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6553200" y="6248404"/>
            <a:ext cx="2209800" cy="365125"/>
          </a:xfrm>
        </p:spPr>
        <p:txBody>
          <a:bodyPr/>
          <a:lstStyle/>
          <a:p>
            <a:fld id="{A491BB91-A39F-4777-9318-8FD6E2B23D12}" type="datetimeFigureOut">
              <a:rPr lang="hu-HU" smtClean="0"/>
              <a:pPr/>
              <a:t>2023. 02. 23.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457202" y="6248209"/>
            <a:ext cx="5573483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7" name="Téglalap 6"/>
          <p:cNvSpPr/>
          <p:nvPr/>
        </p:nvSpPr>
        <p:spPr bwMode="white">
          <a:xfrm>
            <a:off x="6096319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églalap 7"/>
          <p:cNvSpPr/>
          <p:nvPr/>
        </p:nvSpPr>
        <p:spPr>
          <a:xfrm>
            <a:off x="6142039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églalap 8"/>
          <p:cNvSpPr/>
          <p:nvPr/>
        </p:nvSpPr>
        <p:spPr>
          <a:xfrm>
            <a:off x="6142039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A617552E-8953-41D0-A793-45616C75B3F7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ím helye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13" name="Szöveg helye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hu-HU" smtClean="0"/>
              <a:t>Mintaszöveg szerkesztése</a:t>
            </a:r>
          </a:p>
          <a:p>
            <a:pPr lvl="1" eaLnBrk="1" latinLnBrk="0" hangingPunct="1"/>
            <a:r>
              <a:rPr kumimoji="0" lang="hu-HU" smtClean="0"/>
              <a:t>Második szint</a:t>
            </a:r>
          </a:p>
          <a:p>
            <a:pPr lvl="2" eaLnBrk="1" latinLnBrk="0" hangingPunct="1"/>
            <a:r>
              <a:rPr kumimoji="0" lang="hu-HU" smtClean="0"/>
              <a:t>Harmadik szint</a:t>
            </a:r>
          </a:p>
          <a:p>
            <a:pPr lvl="3" eaLnBrk="1" latinLnBrk="0" hangingPunct="1"/>
            <a:r>
              <a:rPr kumimoji="0" lang="hu-HU" smtClean="0"/>
              <a:t>Negyedik szint</a:t>
            </a:r>
          </a:p>
          <a:p>
            <a:pPr lvl="4" eaLnBrk="1" latinLnBrk="0" hangingPunct="1"/>
            <a:r>
              <a:rPr kumimoji="0" lang="hu-HU" smtClean="0"/>
              <a:t>Ötödik szint</a:t>
            </a:r>
            <a:endParaRPr kumimoji="0" lang="en-US"/>
          </a:p>
        </p:txBody>
      </p:sp>
      <p:sp>
        <p:nvSpPr>
          <p:cNvPr id="14" name="Dátum helye 13"/>
          <p:cNvSpPr>
            <a:spLocks noGrp="1"/>
          </p:cNvSpPr>
          <p:nvPr>
            <p:ph type="dt" sz="half" idx="2"/>
          </p:nvPr>
        </p:nvSpPr>
        <p:spPr>
          <a:xfrm>
            <a:off x="6096000" y="6248402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491BB91-A39F-4777-9318-8FD6E2B23D12}" type="datetimeFigureOut">
              <a:rPr lang="hu-HU" smtClean="0"/>
              <a:pPr/>
              <a:t>2023. 02. 23.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3"/>
          </p:nvPr>
        </p:nvSpPr>
        <p:spPr>
          <a:xfrm>
            <a:off x="609601" y="6248208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7" name="Téglalap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églalap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églalap 8"/>
          <p:cNvSpPr/>
          <p:nvPr/>
        </p:nvSpPr>
        <p:spPr>
          <a:xfrm>
            <a:off x="590551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Dia számának hely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A617552E-8953-41D0-A793-45616C75B3F7}" type="slidenum">
              <a:rPr lang="hu-HU" smtClean="0"/>
              <a:pPr/>
              <a:t>‹#›</a:t>
            </a:fld>
            <a:endParaRPr 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SQL NYELV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megkötések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smtClean="0"/>
              <a:t>Feladat1 – Táblalétrehozás megkötésekkel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23848" cy="5257800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hu-HU" dirty="0" smtClean="0"/>
              <a:t>Hozzunk létre egy ISKOLA adatbázist!</a:t>
            </a:r>
          </a:p>
          <a:p>
            <a:pPr marL="514350" lvl="0" indent="-514350">
              <a:buFont typeface="+mj-lt"/>
              <a:buAutoNum type="arabicPeriod"/>
            </a:pPr>
            <a:r>
              <a:rPr lang="hu-HU" dirty="0" smtClean="0"/>
              <a:t>Ebben hozzunk létre egy DIAK táblát, az alábbi mezőkkel:</a:t>
            </a:r>
            <a:br>
              <a:rPr lang="hu-HU" dirty="0" smtClean="0"/>
            </a:br>
            <a:r>
              <a:rPr lang="hu-HU" dirty="0" err="1" smtClean="0"/>
              <a:t>diakAZ</a:t>
            </a:r>
            <a:r>
              <a:rPr lang="hu-HU" dirty="0" smtClean="0"/>
              <a:t> – 4B-os szám (elsődleges kulcs)</a:t>
            </a:r>
            <a:br>
              <a:rPr lang="hu-HU" dirty="0" smtClean="0"/>
            </a:br>
            <a:r>
              <a:rPr lang="hu-HU" dirty="0" smtClean="0"/>
              <a:t>NEV – </a:t>
            </a:r>
            <a:r>
              <a:rPr lang="hu-HU" dirty="0" err="1" smtClean="0"/>
              <a:t>max</a:t>
            </a:r>
            <a:r>
              <a:rPr lang="hu-HU" dirty="0" smtClean="0"/>
              <a:t> 100 karakteres szöveg – nem lehet üres</a:t>
            </a:r>
            <a:br>
              <a:rPr lang="hu-HU" dirty="0" smtClean="0"/>
            </a:br>
            <a:r>
              <a:rPr lang="hu-HU" dirty="0" smtClean="0"/>
              <a:t>EMAIL </a:t>
            </a:r>
            <a:r>
              <a:rPr lang="hu-HU" dirty="0"/>
              <a:t>– </a:t>
            </a:r>
            <a:r>
              <a:rPr lang="hu-HU" dirty="0" err="1"/>
              <a:t>max</a:t>
            </a:r>
            <a:r>
              <a:rPr lang="hu-HU" dirty="0"/>
              <a:t> 100 karakteres szöveg – nem lehet </a:t>
            </a:r>
            <a:r>
              <a:rPr lang="hu-HU" dirty="0" smtClean="0"/>
              <a:t>üres és egyedi értékeket tartalmaz</a:t>
            </a:r>
          </a:p>
          <a:p>
            <a:pPr marL="0" lvl="0" indent="0">
              <a:buNone/>
            </a:pPr>
            <a:r>
              <a:rPr lang="hu-HU" dirty="0"/>
              <a:t> </a:t>
            </a:r>
            <a:r>
              <a:rPr lang="hu-HU" dirty="0" smtClean="0"/>
              <a:t>    SZULDATUM – dátum – nem lehet üres</a:t>
            </a:r>
            <a:br>
              <a:rPr lang="hu-HU" dirty="0" smtClean="0"/>
            </a:br>
            <a:r>
              <a:rPr lang="hu-HU" dirty="0" smtClean="0"/>
              <a:t>     TESTVERSZAM – 1B-os szám</a:t>
            </a:r>
          </a:p>
          <a:p>
            <a:pPr marL="0" lvl="0" indent="0">
              <a:buNone/>
            </a:pPr>
            <a:r>
              <a:rPr lang="hu-HU" dirty="0"/>
              <a:t> </a:t>
            </a:r>
            <a:r>
              <a:rPr lang="hu-HU" dirty="0" smtClean="0"/>
              <a:t>    Indexelje a táblát a NEV és a SZULDATUM szerint!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Adatdefiníciós utasítások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b="1" dirty="0" smtClean="0">
                <a:solidFill>
                  <a:srgbClr val="FF0000"/>
                </a:solidFill>
              </a:rPr>
              <a:t>CREATE TABLE </a:t>
            </a:r>
            <a:r>
              <a:rPr lang="hu-HU" dirty="0" smtClean="0"/>
              <a:t>– tábla létrehozása</a:t>
            </a:r>
          </a:p>
          <a:p>
            <a:pPr>
              <a:buNone/>
            </a:pPr>
            <a:r>
              <a:rPr lang="hu-HU" dirty="0" smtClean="0"/>
              <a:t>Pl. </a:t>
            </a:r>
            <a:r>
              <a:rPr lang="hu-HU" dirty="0"/>
              <a:t>CREATE TABLE </a:t>
            </a:r>
            <a:r>
              <a:rPr lang="hu-HU" dirty="0" err="1"/>
              <a:t>diak</a:t>
            </a:r>
            <a:endParaRPr lang="hu-HU" dirty="0"/>
          </a:p>
          <a:p>
            <a:pPr>
              <a:buNone/>
            </a:pPr>
            <a:r>
              <a:rPr lang="hu-HU" dirty="0"/>
              <a:t>(</a:t>
            </a:r>
            <a:r>
              <a:rPr lang="hu-HU" dirty="0" err="1"/>
              <a:t>diakAZ</a:t>
            </a:r>
            <a:r>
              <a:rPr lang="hu-HU" dirty="0"/>
              <a:t> int PRIMARY KEY,</a:t>
            </a:r>
          </a:p>
          <a:p>
            <a:pPr>
              <a:buNone/>
            </a:pPr>
            <a:r>
              <a:rPr lang="hu-HU" dirty="0"/>
              <a:t> </a:t>
            </a:r>
            <a:r>
              <a:rPr lang="hu-HU" dirty="0" err="1"/>
              <a:t>nev</a:t>
            </a:r>
            <a:r>
              <a:rPr lang="hu-HU" dirty="0"/>
              <a:t> </a:t>
            </a:r>
            <a:r>
              <a:rPr lang="hu-HU" dirty="0" err="1"/>
              <a:t>varchar</a:t>
            </a:r>
            <a:r>
              <a:rPr lang="hu-HU" dirty="0"/>
              <a:t>(100) </a:t>
            </a:r>
            <a:r>
              <a:rPr lang="hu-HU" dirty="0" err="1"/>
              <a:t>not</a:t>
            </a:r>
            <a:r>
              <a:rPr lang="hu-HU" dirty="0"/>
              <a:t> null,</a:t>
            </a:r>
          </a:p>
          <a:p>
            <a:pPr>
              <a:buNone/>
            </a:pPr>
            <a:r>
              <a:rPr lang="hu-HU" dirty="0"/>
              <a:t> email </a:t>
            </a:r>
            <a:r>
              <a:rPr lang="hu-HU" dirty="0" err="1"/>
              <a:t>varchar</a:t>
            </a:r>
            <a:r>
              <a:rPr lang="hu-HU" dirty="0"/>
              <a:t>(100) </a:t>
            </a:r>
            <a:r>
              <a:rPr lang="hu-HU" dirty="0" err="1"/>
              <a:t>not</a:t>
            </a:r>
            <a:r>
              <a:rPr lang="hu-HU" dirty="0"/>
              <a:t> null UNIQUE,</a:t>
            </a:r>
          </a:p>
          <a:p>
            <a:pPr>
              <a:buNone/>
            </a:pPr>
            <a:r>
              <a:rPr lang="hu-HU" dirty="0"/>
              <a:t> </a:t>
            </a:r>
            <a:r>
              <a:rPr lang="hu-HU" dirty="0" err="1"/>
              <a:t>szuldatum</a:t>
            </a:r>
            <a:r>
              <a:rPr lang="hu-HU" dirty="0"/>
              <a:t> </a:t>
            </a:r>
            <a:r>
              <a:rPr lang="hu-HU" dirty="0" err="1"/>
              <a:t>date</a:t>
            </a:r>
            <a:r>
              <a:rPr lang="hu-HU" dirty="0"/>
              <a:t> </a:t>
            </a:r>
            <a:r>
              <a:rPr lang="hu-HU" dirty="0" err="1"/>
              <a:t>not</a:t>
            </a:r>
            <a:r>
              <a:rPr lang="hu-HU" dirty="0"/>
              <a:t> null,</a:t>
            </a:r>
          </a:p>
          <a:p>
            <a:pPr>
              <a:buNone/>
            </a:pPr>
            <a:r>
              <a:rPr lang="hu-HU" dirty="0"/>
              <a:t> </a:t>
            </a:r>
            <a:r>
              <a:rPr lang="hu-HU" dirty="0" err="1"/>
              <a:t>testverszam</a:t>
            </a:r>
            <a:r>
              <a:rPr lang="hu-HU" dirty="0"/>
              <a:t> </a:t>
            </a:r>
            <a:r>
              <a:rPr lang="hu-HU" dirty="0" err="1"/>
              <a:t>tinyint</a:t>
            </a:r>
            <a:r>
              <a:rPr lang="hu-HU" dirty="0"/>
              <a:t> ,</a:t>
            </a:r>
          </a:p>
          <a:p>
            <a:pPr>
              <a:buNone/>
            </a:pPr>
            <a:r>
              <a:rPr lang="hu-HU" dirty="0"/>
              <a:t> </a:t>
            </a:r>
            <a:r>
              <a:rPr lang="hu-HU" dirty="0" smtClean="0"/>
              <a:t>index(</a:t>
            </a:r>
            <a:r>
              <a:rPr lang="hu-HU" dirty="0" err="1" smtClean="0"/>
              <a:t>nev</a:t>
            </a:r>
            <a:r>
              <a:rPr lang="hu-HU" dirty="0" smtClean="0"/>
              <a:t>),</a:t>
            </a:r>
          </a:p>
          <a:p>
            <a:pPr>
              <a:buNone/>
            </a:pPr>
            <a:r>
              <a:rPr lang="hu-HU" dirty="0"/>
              <a:t> </a:t>
            </a:r>
            <a:r>
              <a:rPr lang="hu-HU" dirty="0" smtClean="0"/>
              <a:t>index(</a:t>
            </a:r>
            <a:r>
              <a:rPr lang="hu-HU" dirty="0" err="1" smtClean="0"/>
              <a:t>szuldatum</a:t>
            </a:r>
            <a:r>
              <a:rPr lang="hu-HU" dirty="0" smtClean="0"/>
              <a:t>)</a:t>
            </a:r>
          </a:p>
          <a:p>
            <a:pPr>
              <a:buNone/>
            </a:pPr>
            <a:r>
              <a:rPr lang="hu-HU" dirty="0" smtClean="0"/>
              <a:t>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Feladat2 - INDEX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23848" cy="5257800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hu-HU" dirty="0" smtClean="0"/>
              <a:t>Törölje az index tulajdonságot a SZULDATUM mezőről!</a:t>
            </a:r>
          </a:p>
          <a:p>
            <a:pPr marL="514350" lvl="0" indent="-514350">
              <a:buFont typeface="+mj-lt"/>
              <a:buAutoNum type="arabicPeriod"/>
            </a:pPr>
            <a:r>
              <a:rPr lang="hu-HU" dirty="0" smtClean="0"/>
              <a:t>Majd hozzon létre egyedi indexet az email mezőre!</a:t>
            </a:r>
          </a:p>
        </p:txBody>
      </p:sp>
    </p:spTree>
    <p:extLst>
      <p:ext uri="{BB962C8B-B14F-4D97-AF65-F5344CB8AC3E}">
        <p14:creationId xmlns:p14="http://schemas.microsoft.com/office/powerpoint/2010/main" val="2688303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Index törlése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hu-HU" b="1" dirty="0" smtClean="0">
                <a:solidFill>
                  <a:srgbClr val="FF0000"/>
                </a:solidFill>
              </a:rPr>
              <a:t>DROP INDEX </a:t>
            </a:r>
            <a:r>
              <a:rPr lang="hu-HU" dirty="0" smtClean="0"/>
              <a:t>– index törlése</a:t>
            </a:r>
          </a:p>
          <a:p>
            <a:r>
              <a:rPr lang="hu-HU" dirty="0" smtClean="0"/>
              <a:t>Az </a:t>
            </a:r>
            <a:r>
              <a:rPr lang="hu-HU" dirty="0" err="1" smtClean="0"/>
              <a:t>indexnev</a:t>
            </a:r>
            <a:r>
              <a:rPr lang="hu-HU" dirty="0" smtClean="0"/>
              <a:t> a </a:t>
            </a:r>
            <a:r>
              <a:rPr lang="hu-HU" dirty="0" err="1" smtClean="0"/>
              <a:t>mezonevvel</a:t>
            </a:r>
            <a:r>
              <a:rPr lang="hu-HU" dirty="0" smtClean="0"/>
              <a:t> egyezik meg alaphelyzetben. A SZERKEZET nézetben látszik.</a:t>
            </a:r>
          </a:p>
          <a:p>
            <a:r>
              <a:rPr lang="hu-HU" b="1" dirty="0">
                <a:solidFill>
                  <a:srgbClr val="FF0000"/>
                </a:solidFill>
              </a:rPr>
              <a:t>DROP INDEX </a:t>
            </a:r>
            <a:r>
              <a:rPr lang="hu-HU" dirty="0" smtClean="0"/>
              <a:t>indexnév </a:t>
            </a:r>
            <a:r>
              <a:rPr lang="hu-HU" b="1" dirty="0">
                <a:solidFill>
                  <a:srgbClr val="FF0000"/>
                </a:solidFill>
              </a:rPr>
              <a:t>ON</a:t>
            </a:r>
            <a:r>
              <a:rPr lang="hu-HU" dirty="0" smtClean="0"/>
              <a:t> táblanév</a:t>
            </a:r>
          </a:p>
          <a:p>
            <a:r>
              <a:rPr lang="hu-HU" dirty="0" smtClean="0"/>
              <a:t>Pl. DROP INDEX </a:t>
            </a:r>
            <a:r>
              <a:rPr lang="hu-HU" dirty="0" err="1" smtClean="0"/>
              <a:t>szuldatum</a:t>
            </a:r>
            <a:r>
              <a:rPr lang="hu-HU" dirty="0" smtClean="0"/>
              <a:t> ON </a:t>
            </a:r>
            <a:r>
              <a:rPr lang="hu-HU" dirty="0" err="1" smtClean="0"/>
              <a:t>diak</a:t>
            </a:r>
            <a:endParaRPr lang="hu-HU" dirty="0" smtClean="0"/>
          </a:p>
          <a:p>
            <a:pPr marL="0" indent="0">
              <a:buNone/>
            </a:pPr>
            <a:r>
              <a:rPr lang="hu-HU" dirty="0" smtClean="0"/>
              <a:t>Vagy</a:t>
            </a:r>
          </a:p>
          <a:p>
            <a:r>
              <a:rPr lang="hu-HU" b="1" dirty="0">
                <a:solidFill>
                  <a:srgbClr val="FF0000"/>
                </a:solidFill>
              </a:rPr>
              <a:t>ALTER</a:t>
            </a:r>
            <a:r>
              <a:rPr lang="hu-HU" dirty="0" smtClean="0"/>
              <a:t> </a:t>
            </a:r>
            <a:r>
              <a:rPr lang="hu-HU" b="1" dirty="0">
                <a:solidFill>
                  <a:srgbClr val="FF0000"/>
                </a:solidFill>
              </a:rPr>
              <a:t>TABLE</a:t>
            </a:r>
            <a:r>
              <a:rPr lang="hu-HU" dirty="0" smtClean="0"/>
              <a:t> </a:t>
            </a:r>
            <a:r>
              <a:rPr lang="hu-HU" dirty="0" err="1" smtClean="0"/>
              <a:t>diak</a:t>
            </a:r>
            <a:r>
              <a:rPr lang="hu-HU" dirty="0" smtClean="0"/>
              <a:t> </a:t>
            </a:r>
            <a:r>
              <a:rPr lang="hu-HU" b="1" dirty="0">
                <a:solidFill>
                  <a:srgbClr val="FF0000"/>
                </a:solidFill>
              </a:rPr>
              <a:t>DROP</a:t>
            </a:r>
            <a:r>
              <a:rPr lang="hu-HU" dirty="0" smtClean="0"/>
              <a:t> </a:t>
            </a:r>
            <a:r>
              <a:rPr lang="hu-HU" b="1" dirty="0">
                <a:solidFill>
                  <a:srgbClr val="FF0000"/>
                </a:solidFill>
              </a:rPr>
              <a:t>INDEX</a:t>
            </a:r>
            <a:r>
              <a:rPr lang="hu-HU" dirty="0" smtClean="0"/>
              <a:t> indexnév</a:t>
            </a:r>
          </a:p>
          <a:p>
            <a:r>
              <a:rPr lang="hu-HU" dirty="0" smtClean="0"/>
              <a:t>Pl. ALTER TABLE </a:t>
            </a:r>
            <a:r>
              <a:rPr lang="hu-HU" dirty="0" err="1" smtClean="0"/>
              <a:t>diak</a:t>
            </a:r>
            <a:r>
              <a:rPr lang="hu-HU" dirty="0" smtClean="0"/>
              <a:t> DROP INDEX emailindex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85689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Index hozzáadása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rmAutofit lnSpcReduction="10000"/>
          </a:bodyPr>
          <a:lstStyle/>
          <a:p>
            <a:r>
              <a:rPr lang="hu-HU" b="1" dirty="0" smtClean="0">
                <a:solidFill>
                  <a:srgbClr val="FF0000"/>
                </a:solidFill>
              </a:rPr>
              <a:t>CREATE </a:t>
            </a:r>
            <a:r>
              <a:rPr lang="hu-HU" b="1" dirty="0">
                <a:solidFill>
                  <a:srgbClr val="FF0000"/>
                </a:solidFill>
              </a:rPr>
              <a:t>INDEX </a:t>
            </a:r>
            <a:r>
              <a:rPr lang="hu-HU" dirty="0"/>
              <a:t>– index </a:t>
            </a:r>
            <a:r>
              <a:rPr lang="hu-HU" dirty="0" smtClean="0"/>
              <a:t>hozzáadása</a:t>
            </a:r>
            <a:endParaRPr lang="hu-HU" dirty="0"/>
          </a:p>
          <a:p>
            <a:r>
              <a:rPr lang="hu-HU" b="1" dirty="0">
                <a:solidFill>
                  <a:srgbClr val="FF0000"/>
                </a:solidFill>
              </a:rPr>
              <a:t>CREATE</a:t>
            </a:r>
            <a:r>
              <a:rPr lang="hu-HU" dirty="0" smtClean="0"/>
              <a:t> </a:t>
            </a:r>
            <a:r>
              <a:rPr lang="hu-HU" b="1" dirty="0">
                <a:solidFill>
                  <a:srgbClr val="FF0000"/>
                </a:solidFill>
              </a:rPr>
              <a:t>INDEX</a:t>
            </a:r>
            <a:r>
              <a:rPr lang="hu-HU" dirty="0" smtClean="0"/>
              <a:t> indexnév </a:t>
            </a:r>
            <a:r>
              <a:rPr lang="hu-HU" b="1" dirty="0" smtClean="0">
                <a:solidFill>
                  <a:srgbClr val="FF0000"/>
                </a:solidFill>
              </a:rPr>
              <a:t>ON </a:t>
            </a:r>
            <a:r>
              <a:rPr lang="hu-HU" dirty="0" smtClean="0"/>
              <a:t>táblanév(oszlop1, oszlop2,…)</a:t>
            </a:r>
          </a:p>
          <a:p>
            <a:r>
              <a:rPr lang="hu-HU" dirty="0" smtClean="0"/>
              <a:t>Pl. CRE</a:t>
            </a:r>
            <a:r>
              <a:rPr lang="hu-HU" dirty="0"/>
              <a:t>ATE INDEX emailindex ON </a:t>
            </a:r>
            <a:r>
              <a:rPr lang="hu-HU" dirty="0" err="1"/>
              <a:t>diak</a:t>
            </a:r>
            <a:r>
              <a:rPr lang="hu-HU" dirty="0"/>
              <a:t>(email)</a:t>
            </a:r>
          </a:p>
          <a:p>
            <a:endParaRPr lang="hu-HU" dirty="0" smtClean="0"/>
          </a:p>
          <a:p>
            <a:r>
              <a:rPr lang="hu-HU" b="1" dirty="0">
                <a:solidFill>
                  <a:srgbClr val="FF0000"/>
                </a:solidFill>
              </a:rPr>
              <a:t>CREATE </a:t>
            </a:r>
            <a:r>
              <a:rPr lang="hu-HU" b="1" dirty="0" smtClean="0">
                <a:solidFill>
                  <a:srgbClr val="FF0000"/>
                </a:solidFill>
              </a:rPr>
              <a:t> UNIQUE INDEX </a:t>
            </a:r>
            <a:r>
              <a:rPr lang="hu-HU" dirty="0"/>
              <a:t>– </a:t>
            </a:r>
            <a:r>
              <a:rPr lang="hu-HU" dirty="0" smtClean="0"/>
              <a:t>egyed index hozzáadása</a:t>
            </a:r>
          </a:p>
          <a:p>
            <a:r>
              <a:rPr lang="hu-HU" b="1" dirty="0" smtClean="0">
                <a:solidFill>
                  <a:srgbClr val="FF0000"/>
                </a:solidFill>
              </a:rPr>
              <a:t>CREATE</a:t>
            </a:r>
            <a:r>
              <a:rPr lang="hu-HU" dirty="0" smtClean="0"/>
              <a:t> </a:t>
            </a:r>
            <a:r>
              <a:rPr lang="hu-HU" b="1" dirty="0">
                <a:solidFill>
                  <a:srgbClr val="FF0000"/>
                </a:solidFill>
              </a:rPr>
              <a:t>UNIQUE </a:t>
            </a:r>
            <a:r>
              <a:rPr lang="hu-HU" b="1" dirty="0" smtClean="0">
                <a:solidFill>
                  <a:srgbClr val="FF0000"/>
                </a:solidFill>
              </a:rPr>
              <a:t>INDEX</a:t>
            </a:r>
            <a:r>
              <a:rPr lang="hu-HU" dirty="0" smtClean="0"/>
              <a:t> </a:t>
            </a:r>
            <a:r>
              <a:rPr lang="hu-HU" dirty="0"/>
              <a:t>indexnév </a:t>
            </a:r>
            <a:r>
              <a:rPr lang="hu-HU" b="1" dirty="0">
                <a:solidFill>
                  <a:srgbClr val="FF0000"/>
                </a:solidFill>
              </a:rPr>
              <a:t>ON </a:t>
            </a:r>
            <a:r>
              <a:rPr lang="hu-HU" dirty="0"/>
              <a:t>táblanév(oszlop1, oszlop2,…)</a:t>
            </a:r>
          </a:p>
          <a:p>
            <a:r>
              <a:rPr lang="hu-HU" dirty="0"/>
              <a:t>Pl. CREATE </a:t>
            </a:r>
            <a:r>
              <a:rPr lang="hu-HU" dirty="0" smtClean="0"/>
              <a:t>UNIQUE INDEX </a:t>
            </a:r>
            <a:r>
              <a:rPr lang="hu-HU" dirty="0"/>
              <a:t>emailindex ON </a:t>
            </a:r>
            <a:r>
              <a:rPr lang="hu-HU" dirty="0" err="1"/>
              <a:t>diak</a:t>
            </a:r>
            <a:r>
              <a:rPr lang="hu-HU" dirty="0"/>
              <a:t>(email)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6297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Index hozzáadása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Index létrehozása</a:t>
            </a:r>
          </a:p>
          <a:p>
            <a:r>
              <a:rPr lang="hu-HU" b="1" dirty="0" smtClean="0">
                <a:solidFill>
                  <a:srgbClr val="FF0000"/>
                </a:solidFill>
              </a:rPr>
              <a:t>ALTER</a:t>
            </a:r>
            <a:r>
              <a:rPr lang="hu-HU" dirty="0" smtClean="0"/>
              <a:t> </a:t>
            </a:r>
            <a:r>
              <a:rPr lang="hu-HU" b="1" dirty="0">
                <a:solidFill>
                  <a:srgbClr val="FF0000"/>
                </a:solidFill>
              </a:rPr>
              <a:t>TABLE</a:t>
            </a:r>
            <a:r>
              <a:rPr lang="hu-HU" dirty="0"/>
              <a:t> </a:t>
            </a:r>
            <a:r>
              <a:rPr lang="hu-HU" dirty="0" err="1"/>
              <a:t>diak</a:t>
            </a:r>
            <a:r>
              <a:rPr lang="hu-HU" dirty="0"/>
              <a:t> </a:t>
            </a:r>
            <a:r>
              <a:rPr lang="hu-HU" b="1" dirty="0" smtClean="0">
                <a:solidFill>
                  <a:srgbClr val="FF0000"/>
                </a:solidFill>
              </a:rPr>
              <a:t>ADD</a:t>
            </a:r>
            <a:r>
              <a:rPr lang="hu-HU" dirty="0" smtClean="0"/>
              <a:t> </a:t>
            </a:r>
            <a:r>
              <a:rPr lang="hu-HU" b="1" dirty="0">
                <a:solidFill>
                  <a:srgbClr val="FF0000"/>
                </a:solidFill>
              </a:rPr>
              <a:t>INDEX</a:t>
            </a:r>
            <a:r>
              <a:rPr lang="hu-HU" dirty="0"/>
              <a:t> </a:t>
            </a:r>
            <a:r>
              <a:rPr lang="hu-HU" dirty="0" smtClean="0"/>
              <a:t>indexnév(mezőnév)</a:t>
            </a:r>
            <a:endParaRPr lang="hu-HU" dirty="0"/>
          </a:p>
          <a:p>
            <a:r>
              <a:rPr lang="hu-HU" dirty="0"/>
              <a:t>Pl. ALTER TABLE </a:t>
            </a:r>
            <a:r>
              <a:rPr lang="hu-HU" dirty="0" err="1"/>
              <a:t>diak</a:t>
            </a:r>
            <a:r>
              <a:rPr lang="hu-HU" dirty="0"/>
              <a:t> </a:t>
            </a:r>
            <a:r>
              <a:rPr lang="hu-HU" dirty="0" smtClean="0"/>
              <a:t>ADD </a:t>
            </a:r>
            <a:r>
              <a:rPr lang="hu-HU" dirty="0"/>
              <a:t>INDEX </a:t>
            </a:r>
            <a:r>
              <a:rPr lang="hu-HU" dirty="0" smtClean="0"/>
              <a:t>emailindex(email</a:t>
            </a:r>
            <a:r>
              <a:rPr lang="hu-HU" dirty="0" smtClean="0"/>
              <a:t>)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 smtClean="0"/>
              <a:t>Egyedi index létrehozása</a:t>
            </a:r>
          </a:p>
          <a:p>
            <a:r>
              <a:rPr lang="hu-HU" b="1" dirty="0">
                <a:solidFill>
                  <a:srgbClr val="FF0000"/>
                </a:solidFill>
              </a:rPr>
              <a:t>ALTER</a:t>
            </a:r>
            <a:r>
              <a:rPr lang="hu-HU" dirty="0"/>
              <a:t> </a:t>
            </a:r>
            <a:r>
              <a:rPr lang="hu-HU" b="1" dirty="0">
                <a:solidFill>
                  <a:srgbClr val="FF0000"/>
                </a:solidFill>
              </a:rPr>
              <a:t>TABLE</a:t>
            </a:r>
            <a:r>
              <a:rPr lang="hu-HU" dirty="0"/>
              <a:t> </a:t>
            </a:r>
            <a:r>
              <a:rPr lang="hu-HU" dirty="0" err="1"/>
              <a:t>diak</a:t>
            </a:r>
            <a:r>
              <a:rPr lang="hu-HU" dirty="0"/>
              <a:t> </a:t>
            </a:r>
            <a:r>
              <a:rPr lang="hu-HU" b="1" dirty="0">
                <a:solidFill>
                  <a:srgbClr val="FF0000"/>
                </a:solidFill>
              </a:rPr>
              <a:t>ADD</a:t>
            </a:r>
            <a:r>
              <a:rPr lang="hu-HU" dirty="0"/>
              <a:t> </a:t>
            </a:r>
            <a:r>
              <a:rPr lang="hu-HU" b="1" dirty="0">
                <a:solidFill>
                  <a:srgbClr val="FF0000"/>
                </a:solidFill>
              </a:rPr>
              <a:t>UNIQUE</a:t>
            </a:r>
            <a:r>
              <a:rPr lang="hu-HU" dirty="0" smtClean="0"/>
              <a:t> </a:t>
            </a:r>
            <a:r>
              <a:rPr lang="hu-HU" b="1" dirty="0" smtClean="0">
                <a:solidFill>
                  <a:srgbClr val="FF0000"/>
                </a:solidFill>
              </a:rPr>
              <a:t>INDEX</a:t>
            </a:r>
            <a:r>
              <a:rPr lang="hu-HU" dirty="0" smtClean="0"/>
              <a:t> </a:t>
            </a:r>
            <a:r>
              <a:rPr lang="hu-HU" dirty="0"/>
              <a:t>indexnév(mezőnév)</a:t>
            </a:r>
          </a:p>
          <a:p>
            <a:r>
              <a:rPr lang="hu-HU" dirty="0"/>
              <a:t>Pl. ALTER TABLE </a:t>
            </a:r>
            <a:r>
              <a:rPr lang="hu-HU" dirty="0" err="1"/>
              <a:t>diak</a:t>
            </a:r>
            <a:r>
              <a:rPr lang="hu-HU" dirty="0"/>
              <a:t> ADD </a:t>
            </a:r>
            <a:r>
              <a:rPr lang="hu-HU" dirty="0" smtClean="0"/>
              <a:t>UNIQUE INDEX </a:t>
            </a:r>
            <a:r>
              <a:rPr lang="hu-HU" dirty="0"/>
              <a:t>emailindex(email</a:t>
            </a:r>
            <a:r>
              <a:rPr lang="hu-HU" dirty="0" smtClean="0"/>
              <a:t>)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19954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Feladat3 – PRIMARY KEY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23848" cy="5257800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hu-HU" dirty="0" smtClean="0"/>
              <a:t>Törölje az elsődleges kulcs tulajdonságot a </a:t>
            </a:r>
            <a:r>
              <a:rPr lang="hu-HU" dirty="0" err="1" smtClean="0"/>
              <a:t>diakAZ</a:t>
            </a:r>
            <a:r>
              <a:rPr lang="hu-HU" dirty="0" smtClean="0"/>
              <a:t> mezőről!</a:t>
            </a:r>
          </a:p>
          <a:p>
            <a:pPr marL="514350" lvl="0" indent="-514350">
              <a:buFont typeface="+mj-lt"/>
              <a:buAutoNum type="arabicPeriod"/>
            </a:pPr>
            <a:r>
              <a:rPr lang="hu-HU" dirty="0" smtClean="0"/>
              <a:t>Majd hozza létre újra a </a:t>
            </a:r>
            <a:r>
              <a:rPr lang="hu-HU" dirty="0" err="1" smtClean="0"/>
              <a:t>diakAZ</a:t>
            </a:r>
            <a:r>
              <a:rPr lang="hu-HU" dirty="0" smtClean="0"/>
              <a:t> mezőt automatikus sorszámként, elsődleges kulcsként első mezőként!</a:t>
            </a:r>
          </a:p>
        </p:txBody>
      </p:sp>
    </p:spTree>
    <p:extLst>
      <p:ext uri="{BB962C8B-B14F-4D97-AF65-F5344CB8AC3E}">
        <p14:creationId xmlns:p14="http://schemas.microsoft.com/office/powerpoint/2010/main" val="1302709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smtClean="0"/>
              <a:t>Elsődleges kulcs törlése, hozzáadása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357158" y="1600200"/>
            <a:ext cx="8643998" cy="5257800"/>
          </a:xfrm>
        </p:spPr>
        <p:txBody>
          <a:bodyPr>
            <a:normAutofit fontScale="92500" lnSpcReduction="10000"/>
          </a:bodyPr>
          <a:lstStyle/>
          <a:p>
            <a:r>
              <a:rPr lang="hu-HU" b="1" dirty="0" smtClean="0">
                <a:solidFill>
                  <a:srgbClr val="FF0000"/>
                </a:solidFill>
              </a:rPr>
              <a:t>ALTER TABLE</a:t>
            </a:r>
            <a:r>
              <a:rPr lang="hu-HU" dirty="0" smtClean="0"/>
              <a:t> – elsődleges kulcs tulajdonság törlése és hozzáadása</a:t>
            </a:r>
          </a:p>
          <a:p>
            <a:pPr>
              <a:buNone/>
            </a:pPr>
            <a:r>
              <a:rPr lang="hu-HU" dirty="0" smtClean="0"/>
              <a:t>Pl. ALTER TABLE </a:t>
            </a:r>
            <a:r>
              <a:rPr lang="hu-HU" dirty="0" err="1" smtClean="0"/>
              <a:t>diak</a:t>
            </a:r>
            <a:r>
              <a:rPr lang="hu-HU" dirty="0" smtClean="0"/>
              <a:t> DROP PRIMARY KEY;</a:t>
            </a:r>
          </a:p>
          <a:p>
            <a:pPr>
              <a:buNone/>
            </a:pPr>
            <a:r>
              <a:rPr lang="hu-HU" dirty="0" smtClean="0">
                <a:solidFill>
                  <a:schemeClr val="bg1">
                    <a:lumMod val="50000"/>
                  </a:schemeClr>
                </a:solidFill>
              </a:rPr>
              <a:t>Törli a </a:t>
            </a:r>
            <a:r>
              <a:rPr lang="hu-HU" dirty="0" err="1" smtClean="0">
                <a:solidFill>
                  <a:schemeClr val="bg1">
                    <a:lumMod val="50000"/>
                  </a:schemeClr>
                </a:solidFill>
              </a:rPr>
              <a:t>diak</a:t>
            </a:r>
            <a:r>
              <a:rPr lang="hu-HU" dirty="0" smtClean="0">
                <a:solidFill>
                  <a:schemeClr val="bg1">
                    <a:lumMod val="50000"/>
                  </a:schemeClr>
                </a:solidFill>
              </a:rPr>
              <a:t> táblából az elsődleges kulcsmegjelölést.</a:t>
            </a:r>
          </a:p>
          <a:p>
            <a:pPr>
              <a:buNone/>
            </a:pPr>
            <a:r>
              <a:rPr lang="hu-HU" dirty="0" smtClean="0"/>
              <a:t>Pl. ALTER TABLE </a:t>
            </a:r>
            <a:r>
              <a:rPr lang="hu-HU" dirty="0" err="1" smtClean="0"/>
              <a:t>diak</a:t>
            </a:r>
            <a:r>
              <a:rPr lang="hu-HU" dirty="0" smtClean="0"/>
              <a:t> ADD PRIMARY KEY(</a:t>
            </a:r>
            <a:r>
              <a:rPr lang="hu-HU" dirty="0" err="1" smtClean="0"/>
              <a:t>diakAZ</a:t>
            </a:r>
            <a:r>
              <a:rPr lang="hu-HU" dirty="0" smtClean="0"/>
              <a:t>);</a:t>
            </a:r>
          </a:p>
          <a:p>
            <a:pPr>
              <a:buNone/>
            </a:pP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Ha a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diakAZ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Auto_Increment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 volt, akkor nem lehet az elsődleges kulcstulajdonságot törölni, csak a mező törlésével (ALTER TABLE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diak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 DROP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diakAZ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), majd létrehozni az alábbi </a:t>
            </a:r>
            <a:r>
              <a:rPr lang="hu-HU" dirty="0" smtClean="0">
                <a:solidFill>
                  <a:schemeClr val="bg1">
                    <a:lumMod val="50000"/>
                  </a:schemeClr>
                </a:solidFill>
              </a:rPr>
              <a:t>módon. A FIRST módosító a mezőlista elejére hozza létre az új elsődleges kulcs mezőt.</a:t>
            </a:r>
            <a:endParaRPr lang="hu-HU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dirty="0" smtClean="0"/>
              <a:t>ALTER </a:t>
            </a:r>
            <a:r>
              <a:rPr lang="en-US" dirty="0"/>
              <a:t>TABLE </a:t>
            </a:r>
            <a:r>
              <a:rPr lang="en-US" dirty="0" err="1"/>
              <a:t>diak</a:t>
            </a:r>
            <a:r>
              <a:rPr lang="en-US" dirty="0"/>
              <a:t> ADD </a:t>
            </a:r>
            <a:r>
              <a:rPr lang="en-US" dirty="0" err="1"/>
              <a:t>diakAZ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AUTO_INCREMENT PRIMARY KEY FIRST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3699610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smtClean="0"/>
              <a:t>Feladat4 – Új mező hozzáadása, új tábla készítése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23848" cy="5257800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hu-HU" dirty="0" smtClean="0"/>
              <a:t>Hozzon létre a </a:t>
            </a:r>
            <a:r>
              <a:rPr lang="hu-HU" dirty="0" err="1" smtClean="0"/>
              <a:t>diak</a:t>
            </a:r>
            <a:r>
              <a:rPr lang="hu-HU" dirty="0" smtClean="0"/>
              <a:t> </a:t>
            </a:r>
            <a:r>
              <a:rPr lang="hu-HU" dirty="0" err="1" smtClean="0"/>
              <a:t>tablába</a:t>
            </a:r>
            <a:r>
              <a:rPr lang="hu-HU" dirty="0" smtClean="0"/>
              <a:t> egy új mezőt </a:t>
            </a:r>
            <a:r>
              <a:rPr lang="hu-HU" dirty="0" err="1" smtClean="0"/>
              <a:t>osztaly</a:t>
            </a:r>
            <a:r>
              <a:rPr lang="hu-HU" dirty="0" smtClean="0"/>
              <a:t> néven </a:t>
            </a:r>
            <a:r>
              <a:rPr lang="hu-HU" dirty="0" err="1" smtClean="0"/>
              <a:t>varchar</a:t>
            </a:r>
            <a:r>
              <a:rPr lang="hu-HU" dirty="0" smtClean="0"/>
              <a:t>(6) típussal.</a:t>
            </a:r>
          </a:p>
          <a:p>
            <a:pPr marL="514350" lvl="0" indent="-514350">
              <a:buFont typeface="+mj-lt"/>
              <a:buAutoNum type="arabicPeriod"/>
            </a:pPr>
            <a:r>
              <a:rPr lang="hu-HU" dirty="0" smtClean="0"/>
              <a:t>Hozzon létre egy </a:t>
            </a:r>
            <a:r>
              <a:rPr lang="hu-HU" dirty="0" err="1" smtClean="0"/>
              <a:t>osztalyok</a:t>
            </a:r>
            <a:r>
              <a:rPr lang="hu-HU" dirty="0" smtClean="0"/>
              <a:t> nevű táblát, melyben az alábbi mezők legyenek:</a:t>
            </a:r>
          </a:p>
          <a:p>
            <a:pPr marL="2595563" lvl="0" indent="-2152650">
              <a:buNone/>
            </a:pPr>
            <a:r>
              <a:rPr lang="hu-HU" dirty="0" err="1" smtClean="0"/>
              <a:t>osztalyAZ</a:t>
            </a:r>
            <a:r>
              <a:rPr lang="hu-HU" dirty="0" smtClean="0"/>
              <a:t> </a:t>
            </a:r>
            <a:r>
              <a:rPr lang="hu-HU" dirty="0"/>
              <a:t>– </a:t>
            </a:r>
            <a:r>
              <a:rPr lang="hu-HU" dirty="0" err="1" smtClean="0"/>
              <a:t>varchar</a:t>
            </a:r>
            <a:r>
              <a:rPr lang="hu-HU" dirty="0" smtClean="0"/>
              <a:t>(6) </a:t>
            </a:r>
            <a:r>
              <a:rPr lang="hu-HU" dirty="0"/>
              <a:t>(elsődleges kulcs</a:t>
            </a:r>
            <a:r>
              <a:rPr lang="hu-HU" dirty="0" smtClean="0"/>
              <a:t>)</a:t>
            </a:r>
          </a:p>
          <a:p>
            <a:pPr marL="2595563" lvl="0" indent="-2152650">
              <a:buNone/>
            </a:pPr>
            <a:r>
              <a:rPr lang="hu-HU" dirty="0" err="1" smtClean="0"/>
              <a:t>osztalyfonok</a:t>
            </a:r>
            <a:r>
              <a:rPr lang="hu-HU" dirty="0" smtClean="0"/>
              <a:t> </a:t>
            </a:r>
            <a:r>
              <a:rPr lang="hu-HU" dirty="0"/>
              <a:t>– </a:t>
            </a:r>
            <a:r>
              <a:rPr lang="hu-HU" dirty="0" err="1"/>
              <a:t>max</a:t>
            </a:r>
            <a:r>
              <a:rPr lang="hu-HU" dirty="0"/>
              <a:t> </a:t>
            </a:r>
            <a:r>
              <a:rPr lang="hu-HU" dirty="0" smtClean="0"/>
              <a:t> 40 karakteres </a:t>
            </a:r>
            <a:r>
              <a:rPr lang="hu-HU" dirty="0"/>
              <a:t>szöveg – nem lehet </a:t>
            </a:r>
            <a:r>
              <a:rPr lang="hu-HU" dirty="0" smtClean="0"/>
              <a:t>üres</a:t>
            </a:r>
          </a:p>
          <a:p>
            <a:pPr marL="2595563" lvl="0" indent="-2152650">
              <a:buNone/>
            </a:pPr>
            <a:r>
              <a:rPr lang="hu-HU" dirty="0" err="1"/>
              <a:t>o</a:t>
            </a:r>
            <a:r>
              <a:rPr lang="hu-HU" dirty="0" err="1" smtClean="0"/>
              <a:t>sztalyterem</a:t>
            </a:r>
            <a:r>
              <a:rPr lang="hu-HU" dirty="0" smtClean="0"/>
              <a:t> – 1B-os egész szám - egyedi</a:t>
            </a:r>
            <a:r>
              <a:rPr lang="hu-HU" dirty="0"/>
              <a:t/>
            </a:r>
            <a:br>
              <a:rPr lang="hu-HU" dirty="0"/>
            </a:b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4102168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57158" y="228600"/>
            <a:ext cx="8408890" cy="990600"/>
          </a:xfrm>
        </p:spPr>
        <p:txBody>
          <a:bodyPr>
            <a:normAutofit fontScale="90000"/>
          </a:bodyPr>
          <a:lstStyle/>
          <a:p>
            <a:r>
              <a:rPr lang="hu-HU" dirty="0"/>
              <a:t>Új mező hozzáadása, új tábla készítése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357158" y="1600200"/>
            <a:ext cx="8643998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hu-HU" dirty="0" smtClean="0"/>
              <a:t>Pl. ALTER TABLE </a:t>
            </a:r>
            <a:r>
              <a:rPr lang="hu-HU" dirty="0" err="1" smtClean="0"/>
              <a:t>diak</a:t>
            </a:r>
            <a:r>
              <a:rPr lang="hu-HU" dirty="0" smtClean="0"/>
              <a:t> ADD </a:t>
            </a:r>
            <a:r>
              <a:rPr lang="hu-HU" dirty="0" err="1" smtClean="0"/>
              <a:t>osztaly</a:t>
            </a:r>
            <a:r>
              <a:rPr lang="hu-HU" dirty="0" smtClean="0"/>
              <a:t> VARCHAR(6);</a:t>
            </a:r>
          </a:p>
          <a:p>
            <a:pPr>
              <a:buNone/>
            </a:pPr>
            <a:r>
              <a:rPr lang="hu-HU" dirty="0" smtClean="0">
                <a:solidFill>
                  <a:schemeClr val="bg1">
                    <a:lumMod val="50000"/>
                  </a:schemeClr>
                </a:solidFill>
              </a:rPr>
              <a:t>Hozzáad egy új 6 hosszú szöveges mezőt a </a:t>
            </a:r>
            <a:r>
              <a:rPr lang="hu-HU" dirty="0" err="1" smtClean="0">
                <a:solidFill>
                  <a:schemeClr val="bg1">
                    <a:lumMod val="50000"/>
                  </a:schemeClr>
                </a:solidFill>
              </a:rPr>
              <a:t>diak</a:t>
            </a:r>
            <a:r>
              <a:rPr lang="hu-HU" dirty="0" smtClean="0">
                <a:solidFill>
                  <a:schemeClr val="bg1">
                    <a:lumMod val="50000"/>
                  </a:schemeClr>
                </a:solidFill>
              </a:rPr>
              <a:t> táblához </a:t>
            </a:r>
            <a:r>
              <a:rPr lang="hu-HU" dirty="0" err="1" smtClean="0">
                <a:solidFill>
                  <a:schemeClr val="bg1">
                    <a:lumMod val="50000"/>
                  </a:schemeClr>
                </a:solidFill>
              </a:rPr>
              <a:t>osztaly</a:t>
            </a:r>
            <a:r>
              <a:rPr lang="hu-HU" dirty="0" smtClean="0">
                <a:solidFill>
                  <a:schemeClr val="bg1">
                    <a:lumMod val="50000"/>
                  </a:schemeClr>
                </a:solidFill>
              </a:rPr>
              <a:t> néven.</a:t>
            </a:r>
          </a:p>
          <a:p>
            <a:pPr>
              <a:buNone/>
            </a:pPr>
            <a:r>
              <a:rPr lang="hu-HU" dirty="0" smtClean="0"/>
              <a:t>Pl</a:t>
            </a:r>
            <a:r>
              <a:rPr lang="hu-HU" dirty="0"/>
              <a:t>. CREATE TABLE </a:t>
            </a:r>
            <a:r>
              <a:rPr lang="hu-HU" dirty="0" err="1" smtClean="0"/>
              <a:t>osztalyok</a:t>
            </a:r>
            <a:endParaRPr lang="hu-HU" dirty="0"/>
          </a:p>
          <a:p>
            <a:pPr>
              <a:buNone/>
            </a:pPr>
            <a:r>
              <a:rPr lang="hu-HU" dirty="0" smtClean="0"/>
              <a:t>(</a:t>
            </a:r>
            <a:r>
              <a:rPr lang="hu-HU" dirty="0" err="1" smtClean="0"/>
              <a:t>osztalyAZ</a:t>
            </a:r>
            <a:r>
              <a:rPr lang="hu-HU" dirty="0" smtClean="0"/>
              <a:t> </a:t>
            </a:r>
            <a:r>
              <a:rPr lang="hu-HU" dirty="0" err="1" smtClean="0"/>
              <a:t>varchar</a:t>
            </a:r>
            <a:r>
              <a:rPr lang="hu-HU" dirty="0" smtClean="0"/>
              <a:t>(6) </a:t>
            </a:r>
            <a:r>
              <a:rPr lang="hu-HU" dirty="0"/>
              <a:t>PRIMARY KEY,</a:t>
            </a:r>
          </a:p>
          <a:p>
            <a:pPr>
              <a:buNone/>
            </a:pPr>
            <a:r>
              <a:rPr lang="hu-HU" dirty="0"/>
              <a:t> </a:t>
            </a:r>
            <a:r>
              <a:rPr lang="hu-HU" dirty="0" err="1" smtClean="0"/>
              <a:t>osztalyfonok</a:t>
            </a:r>
            <a:r>
              <a:rPr lang="hu-HU" dirty="0" smtClean="0"/>
              <a:t> </a:t>
            </a:r>
            <a:r>
              <a:rPr lang="hu-HU" dirty="0" err="1" smtClean="0"/>
              <a:t>varchar</a:t>
            </a:r>
            <a:r>
              <a:rPr lang="hu-HU" dirty="0" smtClean="0"/>
              <a:t>(40</a:t>
            </a:r>
            <a:r>
              <a:rPr lang="hu-HU" dirty="0"/>
              <a:t>) </a:t>
            </a:r>
            <a:r>
              <a:rPr lang="hu-HU" dirty="0" err="1"/>
              <a:t>not</a:t>
            </a:r>
            <a:r>
              <a:rPr lang="hu-HU" dirty="0"/>
              <a:t> null,</a:t>
            </a:r>
          </a:p>
          <a:p>
            <a:pPr>
              <a:buNone/>
            </a:pPr>
            <a:r>
              <a:rPr lang="hu-HU" dirty="0"/>
              <a:t> </a:t>
            </a:r>
            <a:r>
              <a:rPr lang="hu-HU" dirty="0" err="1" smtClean="0"/>
              <a:t>osztalyterem</a:t>
            </a:r>
            <a:r>
              <a:rPr lang="hu-HU" dirty="0" smtClean="0"/>
              <a:t> </a:t>
            </a:r>
            <a:r>
              <a:rPr lang="hu-HU" dirty="0" err="1" smtClean="0"/>
              <a:t>tinyint</a:t>
            </a:r>
            <a:r>
              <a:rPr lang="hu-HU" dirty="0" smtClean="0"/>
              <a:t> </a:t>
            </a:r>
            <a:r>
              <a:rPr lang="hu-HU" dirty="0"/>
              <a:t>UNIQUE</a:t>
            </a:r>
          </a:p>
          <a:p>
            <a:pPr>
              <a:buNone/>
            </a:pPr>
            <a:r>
              <a:rPr lang="hu-HU" dirty="0" smtClean="0"/>
              <a:t>);</a:t>
            </a:r>
            <a:endParaRPr lang="hu-HU" dirty="0"/>
          </a:p>
          <a:p>
            <a:pPr>
              <a:buNone/>
            </a:pP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Tábla létrehozása a kívánt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mezőkkel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 és tulajdonságokkal.</a:t>
            </a:r>
          </a:p>
        </p:txBody>
      </p:sp>
    </p:spTree>
    <p:extLst>
      <p:ext uri="{BB962C8B-B14F-4D97-AF65-F5344CB8AC3E}">
        <p14:creationId xmlns:p14="http://schemas.microsoft.com/office/powerpoint/2010/main" val="212529521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Feladat5 – Tábla feltöltése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23848" cy="5257800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hu-HU" dirty="0" smtClean="0"/>
              <a:t>Töltse fel az </a:t>
            </a:r>
            <a:r>
              <a:rPr lang="hu-HU" dirty="0" err="1" smtClean="0"/>
              <a:t>osztalyok</a:t>
            </a:r>
            <a:r>
              <a:rPr lang="hu-HU" dirty="0" smtClean="0"/>
              <a:t> táblát az alábbi adatokkal:</a:t>
            </a:r>
          </a:p>
          <a:p>
            <a:pPr marL="0" lvl="0" indent="0">
              <a:buNone/>
            </a:pPr>
            <a:r>
              <a:rPr lang="hu-HU" dirty="0" smtClean="0"/>
              <a:t>9.a Vass Mária 30</a:t>
            </a:r>
            <a:r>
              <a:rPr lang="hu-HU" dirty="0"/>
              <a:t/>
            </a:r>
            <a:br>
              <a:rPr lang="hu-HU" dirty="0"/>
            </a:br>
            <a:r>
              <a:rPr lang="hu-HU" dirty="0" smtClean="0"/>
              <a:t>9.b Tóth Márton 14</a:t>
            </a:r>
          </a:p>
          <a:p>
            <a:pPr marL="0" lvl="0" indent="0">
              <a:buNone/>
            </a:pPr>
            <a:r>
              <a:rPr lang="hu-HU" dirty="0" smtClean="0"/>
              <a:t>9.c Kovácsné Kertész Etelka 32</a:t>
            </a:r>
          </a:p>
          <a:p>
            <a:pPr marL="0" lvl="0" indent="0">
              <a:buNone/>
            </a:pPr>
            <a:endParaRPr lang="hu-HU" dirty="0" smtClean="0"/>
          </a:p>
          <a:p>
            <a:pPr marL="514350" indent="-514350">
              <a:buFont typeface="+mj-lt"/>
              <a:buAutoNum type="arabicPeriod" startAt="2"/>
            </a:pPr>
            <a:r>
              <a:rPr lang="hu-HU" dirty="0" smtClean="0"/>
              <a:t>A </a:t>
            </a:r>
            <a:r>
              <a:rPr lang="hu-HU" dirty="0" err="1" smtClean="0"/>
              <a:t>diak</a:t>
            </a:r>
            <a:r>
              <a:rPr lang="hu-HU" dirty="0" smtClean="0"/>
              <a:t> tábla összes adatsorában töltse ki az </a:t>
            </a:r>
            <a:r>
              <a:rPr lang="hu-HU" dirty="0" err="1" smtClean="0"/>
              <a:t>osztaly</a:t>
            </a:r>
            <a:r>
              <a:rPr lang="hu-HU" dirty="0" smtClean="0"/>
              <a:t> mezőt a „9.a” értékkel.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57349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57158" y="228600"/>
            <a:ext cx="8408890" cy="990600"/>
          </a:xfrm>
        </p:spPr>
        <p:txBody>
          <a:bodyPr>
            <a:normAutofit/>
          </a:bodyPr>
          <a:lstStyle/>
          <a:p>
            <a:r>
              <a:rPr lang="hu-HU" dirty="0" smtClean="0"/>
              <a:t>Tábla feltöltése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357158" y="1600200"/>
            <a:ext cx="8643998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hu-HU" dirty="0" smtClean="0"/>
              <a:t>INSERT INTO </a:t>
            </a:r>
            <a:r>
              <a:rPr lang="hu-HU" dirty="0" err="1" smtClean="0"/>
              <a:t>osztalyok</a:t>
            </a:r>
            <a:r>
              <a:rPr lang="hu-HU" dirty="0" smtClean="0"/>
              <a:t> (</a:t>
            </a:r>
            <a:r>
              <a:rPr lang="hu-HU" dirty="0" err="1" smtClean="0"/>
              <a:t>osztalyAZ</a:t>
            </a:r>
            <a:r>
              <a:rPr lang="hu-HU" dirty="0" smtClean="0"/>
              <a:t>, </a:t>
            </a:r>
            <a:r>
              <a:rPr lang="hu-HU" dirty="0" err="1" smtClean="0"/>
              <a:t>osztalyfonok</a:t>
            </a:r>
            <a:r>
              <a:rPr lang="hu-HU" dirty="0" smtClean="0"/>
              <a:t>, </a:t>
            </a:r>
            <a:r>
              <a:rPr lang="hu-HU" dirty="0" err="1" smtClean="0"/>
              <a:t>osztalyterem</a:t>
            </a:r>
            <a:r>
              <a:rPr lang="hu-HU" dirty="0" smtClean="0"/>
              <a:t>)</a:t>
            </a:r>
            <a:endParaRPr lang="hu-HU" dirty="0"/>
          </a:p>
          <a:p>
            <a:pPr>
              <a:buNone/>
            </a:pPr>
            <a:r>
              <a:rPr lang="hu-HU" dirty="0" smtClean="0"/>
              <a:t>(”9.a”, ”Vass Mária”, 30),</a:t>
            </a:r>
          </a:p>
          <a:p>
            <a:pPr>
              <a:buNone/>
            </a:pPr>
            <a:r>
              <a:rPr lang="hu-HU" dirty="0"/>
              <a:t>(”</a:t>
            </a:r>
            <a:r>
              <a:rPr lang="hu-HU" dirty="0" smtClean="0"/>
              <a:t>9.b”, ”</a:t>
            </a:r>
            <a:r>
              <a:rPr lang="hu-HU" dirty="0"/>
              <a:t> Tóth </a:t>
            </a:r>
            <a:r>
              <a:rPr lang="hu-HU" dirty="0" smtClean="0"/>
              <a:t>Márton”, 14),</a:t>
            </a:r>
            <a:endParaRPr lang="hu-HU" dirty="0"/>
          </a:p>
          <a:p>
            <a:pPr>
              <a:buNone/>
            </a:pPr>
            <a:r>
              <a:rPr lang="hu-HU" dirty="0"/>
              <a:t>(”</a:t>
            </a:r>
            <a:r>
              <a:rPr lang="hu-HU" dirty="0" smtClean="0"/>
              <a:t>9.c”, ”</a:t>
            </a:r>
            <a:r>
              <a:rPr lang="hu-HU" dirty="0"/>
              <a:t> Kovácsné Kertész </a:t>
            </a:r>
            <a:r>
              <a:rPr lang="hu-HU" dirty="0" smtClean="0"/>
              <a:t>Etelka”, 32);</a:t>
            </a:r>
          </a:p>
          <a:p>
            <a:pPr>
              <a:buNone/>
            </a:pPr>
            <a:endParaRPr lang="hu-HU" dirty="0"/>
          </a:p>
          <a:p>
            <a:pPr>
              <a:buNone/>
            </a:pPr>
            <a:r>
              <a:rPr lang="hu-HU" dirty="0" smtClean="0"/>
              <a:t>UPDATE </a:t>
            </a:r>
            <a:r>
              <a:rPr lang="hu-HU" dirty="0" err="1" smtClean="0"/>
              <a:t>diak</a:t>
            </a:r>
            <a:r>
              <a:rPr lang="hu-HU" dirty="0" smtClean="0"/>
              <a:t> SET </a:t>
            </a:r>
            <a:r>
              <a:rPr lang="hu-HU" dirty="0" err="1" smtClean="0"/>
              <a:t>osztaly</a:t>
            </a:r>
            <a:r>
              <a:rPr lang="hu-HU" dirty="0" smtClean="0"/>
              <a:t>=”9.a”;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959514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23528" y="228600"/>
            <a:ext cx="8442520" cy="990600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Feladat6 – FOREIGN KEY létrehozása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611560" y="1600200"/>
            <a:ext cx="8424936" cy="5257800"/>
          </a:xfrm>
        </p:spPr>
        <p:txBody>
          <a:bodyPr>
            <a:normAutofit lnSpcReduction="1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hu-HU" dirty="0" smtClean="0"/>
              <a:t>A </a:t>
            </a:r>
            <a:r>
              <a:rPr lang="hu-HU" dirty="0" err="1" smtClean="0"/>
              <a:t>diak</a:t>
            </a:r>
            <a:r>
              <a:rPr lang="hu-HU" dirty="0" smtClean="0"/>
              <a:t> </a:t>
            </a:r>
            <a:r>
              <a:rPr lang="hu-HU" dirty="0" err="1" smtClean="0"/>
              <a:t>tabla</a:t>
            </a:r>
            <a:r>
              <a:rPr lang="hu-HU" dirty="0" smtClean="0"/>
              <a:t> </a:t>
            </a:r>
            <a:r>
              <a:rPr lang="hu-HU" dirty="0" err="1" smtClean="0"/>
              <a:t>osztaly</a:t>
            </a:r>
            <a:r>
              <a:rPr lang="hu-HU" dirty="0" smtClean="0"/>
              <a:t> mezője legyen idegen kulcs.</a:t>
            </a:r>
          </a:p>
          <a:p>
            <a:pPr marL="0" lvl="0" indent="0">
              <a:buNone/>
            </a:pPr>
            <a:r>
              <a:rPr lang="hu-HU" sz="3000" dirty="0" smtClean="0"/>
              <a:t>ALTER </a:t>
            </a:r>
            <a:r>
              <a:rPr lang="hu-HU" sz="3000" dirty="0"/>
              <a:t>TABLE </a:t>
            </a:r>
            <a:r>
              <a:rPr lang="hu-HU" sz="3000" dirty="0" err="1" smtClean="0"/>
              <a:t>diak</a:t>
            </a:r>
            <a:r>
              <a:rPr lang="hu-HU" sz="3000" dirty="0" smtClean="0"/>
              <a:t> ADD </a:t>
            </a:r>
            <a:r>
              <a:rPr lang="hu-HU" sz="3000" dirty="0"/>
              <a:t>FOREIGN KEY </a:t>
            </a:r>
            <a:r>
              <a:rPr lang="hu-HU" sz="3000" dirty="0" smtClean="0"/>
              <a:t>(</a:t>
            </a:r>
            <a:r>
              <a:rPr lang="hu-HU" sz="3000" dirty="0" err="1" smtClean="0"/>
              <a:t>osztaly</a:t>
            </a:r>
            <a:r>
              <a:rPr lang="hu-HU" sz="3000" dirty="0" smtClean="0"/>
              <a:t>) </a:t>
            </a:r>
            <a:r>
              <a:rPr lang="hu-HU" sz="3000" dirty="0"/>
              <a:t>REFERENCES </a:t>
            </a:r>
            <a:r>
              <a:rPr lang="hu-HU" sz="3000" dirty="0" err="1" smtClean="0"/>
              <a:t>osztalyok</a:t>
            </a:r>
            <a:r>
              <a:rPr lang="hu-HU" sz="3000" dirty="0" smtClean="0"/>
              <a:t>(</a:t>
            </a:r>
            <a:r>
              <a:rPr lang="hu-HU" sz="3000" dirty="0" err="1" smtClean="0"/>
              <a:t>osztalyAZ</a:t>
            </a:r>
            <a:r>
              <a:rPr lang="hu-HU" sz="3000" dirty="0" smtClean="0"/>
              <a:t>); </a:t>
            </a:r>
          </a:p>
          <a:p>
            <a:pPr marL="0" lvl="0" indent="0">
              <a:buNone/>
            </a:pPr>
            <a:r>
              <a:rPr lang="hu-HU" dirty="0" smtClean="0">
                <a:solidFill>
                  <a:schemeClr val="bg1">
                    <a:lumMod val="50000"/>
                  </a:schemeClr>
                </a:solidFill>
              </a:rPr>
              <a:t>Ebben az esetben az idegen kulcsnak a rendszer ad nevet.</a:t>
            </a:r>
            <a:endParaRPr lang="hu-HU" dirty="0"/>
          </a:p>
          <a:p>
            <a:pPr marL="0" lvl="0" indent="0">
              <a:buNone/>
            </a:pPr>
            <a:r>
              <a:rPr lang="hu-HU" dirty="0" smtClean="0"/>
              <a:t>VAGY</a:t>
            </a:r>
          </a:p>
          <a:p>
            <a:pPr marL="0" indent="0">
              <a:buNone/>
            </a:pPr>
            <a:r>
              <a:rPr lang="hu-HU" sz="3000" dirty="0"/>
              <a:t>ALTER TABLE </a:t>
            </a:r>
            <a:r>
              <a:rPr lang="hu-HU" sz="3000" dirty="0" err="1" smtClean="0"/>
              <a:t>diak</a:t>
            </a:r>
            <a:r>
              <a:rPr lang="hu-HU" sz="3000" dirty="0" smtClean="0"/>
              <a:t> ADD </a:t>
            </a:r>
            <a:r>
              <a:rPr lang="hu-HU" sz="3000" dirty="0"/>
              <a:t>CONSTRAINT </a:t>
            </a:r>
            <a:r>
              <a:rPr lang="hu-HU" sz="3000" dirty="0" err="1" smtClean="0"/>
              <a:t>FK_Osztaly</a:t>
            </a:r>
            <a:r>
              <a:rPr lang="hu-HU" sz="3000" dirty="0" smtClean="0"/>
              <a:t> FOREIGN </a:t>
            </a:r>
            <a:r>
              <a:rPr lang="hu-HU" sz="3000" dirty="0"/>
              <a:t>KEY (</a:t>
            </a:r>
            <a:r>
              <a:rPr lang="hu-HU" sz="3000" dirty="0" err="1"/>
              <a:t>osztaly</a:t>
            </a:r>
            <a:r>
              <a:rPr lang="hu-HU" sz="3000" dirty="0"/>
              <a:t>) REFERENCES </a:t>
            </a:r>
            <a:r>
              <a:rPr lang="hu-HU" sz="3000" dirty="0" err="1" smtClean="0"/>
              <a:t>osztalyok</a:t>
            </a:r>
            <a:r>
              <a:rPr lang="hu-HU" sz="3000" dirty="0" smtClean="0"/>
              <a:t>(</a:t>
            </a:r>
            <a:r>
              <a:rPr lang="hu-HU" sz="3000" dirty="0" err="1" smtClean="0"/>
              <a:t>osztalyAZ</a:t>
            </a:r>
            <a:r>
              <a:rPr lang="hu-HU" sz="3000" dirty="0"/>
              <a:t>); </a:t>
            </a:r>
            <a:endParaRPr lang="hu-HU" sz="3000" dirty="0" smtClean="0"/>
          </a:p>
          <a:p>
            <a:pPr marL="0" indent="0">
              <a:buNone/>
            </a:pP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Ebben az esetben az idegen kulcsnak </a:t>
            </a:r>
            <a:r>
              <a:rPr lang="hu-HU" dirty="0" smtClean="0">
                <a:solidFill>
                  <a:schemeClr val="bg1">
                    <a:lumMod val="50000"/>
                  </a:schemeClr>
                </a:solidFill>
              </a:rPr>
              <a:t>mi adunk nevet (</a:t>
            </a:r>
            <a:r>
              <a:rPr lang="hu-HU" dirty="0" err="1" smtClean="0">
                <a:solidFill>
                  <a:schemeClr val="bg1">
                    <a:lumMod val="50000"/>
                  </a:schemeClr>
                </a:solidFill>
              </a:rPr>
              <a:t>FK_Osztaly</a:t>
            </a:r>
            <a:r>
              <a:rPr lang="hu-HU" dirty="0" smtClean="0">
                <a:solidFill>
                  <a:schemeClr val="bg1">
                    <a:lumMod val="50000"/>
                  </a:schemeClr>
                </a:solidFill>
              </a:rPr>
              <a:t>).</a:t>
            </a:r>
            <a:endParaRPr lang="hu-HU" dirty="0"/>
          </a:p>
          <a:p>
            <a:pPr marL="0" indent="0">
              <a:buNone/>
            </a:pPr>
            <a:endParaRPr lang="hu-HU" dirty="0"/>
          </a:p>
          <a:p>
            <a:pPr marL="0" lvl="0" indent="0">
              <a:buNone/>
            </a:pP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125598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23528" y="228600"/>
            <a:ext cx="8442520" cy="990600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Feladat6 – FOREIGN KEY </a:t>
            </a:r>
            <a:r>
              <a:rPr lang="hu-HU" dirty="0" smtClean="0"/>
              <a:t>RESTRICT/CASCADE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23848" cy="5257800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hu-HU" dirty="0" smtClean="0"/>
              <a:t>Ez előbbi idegenkulcs megadások esetén automatikusan egy szigorú szabályrendszer lép érvénybe.</a:t>
            </a:r>
          </a:p>
          <a:p>
            <a:pPr marL="0" lvl="0" indent="0">
              <a:buNone/>
            </a:pPr>
            <a:r>
              <a:rPr lang="hu-HU" dirty="0" smtClean="0"/>
              <a:t>A Kapcsolati nézetben a RESTRICT beállítást látjuk</a:t>
            </a:r>
            <a:br>
              <a:rPr lang="hu-HU" dirty="0" smtClean="0"/>
            </a:br>
            <a:r>
              <a:rPr lang="hu-HU" dirty="0" smtClean="0"/>
              <a:t>az ON DELETE és az ON UPDATE tulajdonságoknál.</a:t>
            </a:r>
          </a:p>
          <a:p>
            <a:pPr marL="0" lvl="0" indent="0">
              <a:buNone/>
            </a:pPr>
            <a:r>
              <a:rPr lang="hu-HU" dirty="0" smtClean="0"/>
              <a:t>RESTRICT jelentése:</a:t>
            </a:r>
          </a:p>
          <a:p>
            <a:r>
              <a:rPr lang="hu-HU" dirty="0" smtClean="0"/>
              <a:t>Az </a:t>
            </a:r>
            <a:r>
              <a:rPr lang="hu-HU" dirty="0" err="1" smtClean="0"/>
              <a:t>osztaly</a:t>
            </a:r>
            <a:r>
              <a:rPr lang="hu-HU" dirty="0" smtClean="0"/>
              <a:t> táblából nem törölhetünk rekordot (osztályt), ha van kapcsolódó rekord (diák) a másik táblában (abban az osztályban).</a:t>
            </a:r>
          </a:p>
          <a:p>
            <a:r>
              <a:rPr lang="hu-HU" dirty="0" smtClean="0"/>
              <a:t>Az </a:t>
            </a:r>
            <a:r>
              <a:rPr lang="hu-HU" dirty="0" err="1" smtClean="0"/>
              <a:t>osztaly</a:t>
            </a:r>
            <a:r>
              <a:rPr lang="hu-HU" dirty="0" smtClean="0"/>
              <a:t> táblában a kulcsmező értékét (osztályt) nem módosíthatjuk, ha van kapcsolódó rekord (diák) a másik táblában.</a:t>
            </a:r>
          </a:p>
          <a:p>
            <a:r>
              <a:rPr lang="hu-HU" dirty="0" smtClean="0"/>
              <a:t>A </a:t>
            </a:r>
            <a:r>
              <a:rPr lang="hu-HU" dirty="0" err="1" smtClean="0"/>
              <a:t>diak</a:t>
            </a:r>
            <a:r>
              <a:rPr lang="hu-HU" dirty="0" smtClean="0"/>
              <a:t> táblába nem vihetünk fel olyan osztályba járó diákot, amelyik osztály nem létezik az </a:t>
            </a:r>
            <a:r>
              <a:rPr lang="hu-HU" dirty="0" err="1" smtClean="0"/>
              <a:t>osztalyok</a:t>
            </a:r>
            <a:r>
              <a:rPr lang="hu-HU" dirty="0" smtClean="0"/>
              <a:t> táblában.</a:t>
            </a:r>
            <a:endParaRPr lang="hu-HU" dirty="0"/>
          </a:p>
          <a:p>
            <a:pPr marL="0" lvl="0" indent="0">
              <a:buNone/>
            </a:pP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1698557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23528" y="228600"/>
            <a:ext cx="8442520" cy="990600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Feladat6 – FOREIGN KEY </a:t>
            </a:r>
            <a:r>
              <a:rPr lang="hu-HU" dirty="0" smtClean="0"/>
              <a:t>RESTRICT/CASCADE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539552" y="1600200"/>
            <a:ext cx="8496944" cy="5257800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hu-HU" dirty="0" smtClean="0"/>
              <a:t>Ha szeretnénk a törlést és a módosítást engedélyezni, akkor CASCADE beállítást kell alkalmaznunk.</a:t>
            </a:r>
          </a:p>
          <a:p>
            <a:pPr marL="0" indent="0">
              <a:buNone/>
            </a:pPr>
            <a:r>
              <a:rPr lang="hu-HU" sz="2800" dirty="0"/>
              <a:t>ALTER TABLE </a:t>
            </a:r>
            <a:r>
              <a:rPr lang="hu-HU" sz="2800" dirty="0" err="1"/>
              <a:t>diak</a:t>
            </a:r>
            <a:r>
              <a:rPr lang="hu-HU" sz="2800" dirty="0"/>
              <a:t> ADD CONSTRAINT </a:t>
            </a:r>
            <a:r>
              <a:rPr lang="hu-HU" sz="2800" dirty="0" err="1"/>
              <a:t>FK_Osztaly</a:t>
            </a:r>
            <a:r>
              <a:rPr lang="hu-HU" sz="2800" dirty="0"/>
              <a:t> FOREIGN KEY (</a:t>
            </a:r>
            <a:r>
              <a:rPr lang="hu-HU" sz="2800" dirty="0" err="1"/>
              <a:t>osztaly</a:t>
            </a:r>
            <a:r>
              <a:rPr lang="hu-HU" sz="2800" dirty="0"/>
              <a:t>) REFERENCES </a:t>
            </a:r>
            <a:r>
              <a:rPr lang="hu-HU" sz="2800" dirty="0" err="1"/>
              <a:t>osztalyok</a:t>
            </a:r>
            <a:r>
              <a:rPr lang="hu-HU" sz="2800" dirty="0"/>
              <a:t>(</a:t>
            </a:r>
            <a:r>
              <a:rPr lang="hu-HU" sz="2800" dirty="0" err="1"/>
              <a:t>osztalyAZ</a:t>
            </a:r>
            <a:r>
              <a:rPr lang="hu-HU" sz="2800" dirty="0" smtClean="0"/>
              <a:t>) ON DELETE </a:t>
            </a:r>
            <a:r>
              <a:rPr lang="hu-HU" sz="2800" dirty="0" err="1" smtClean="0"/>
              <a:t>cascade</a:t>
            </a:r>
            <a:r>
              <a:rPr lang="hu-HU" sz="2800" dirty="0" smtClean="0"/>
              <a:t> ON UPDATE </a:t>
            </a:r>
            <a:r>
              <a:rPr lang="hu-HU" sz="2800" dirty="0" err="1" smtClean="0"/>
              <a:t>cascade</a:t>
            </a:r>
            <a:r>
              <a:rPr lang="hu-HU" sz="2800" dirty="0" smtClean="0"/>
              <a:t>; </a:t>
            </a:r>
            <a:endParaRPr lang="hu-HU" sz="2800" dirty="0"/>
          </a:p>
          <a:p>
            <a:pPr marL="0" lvl="0" indent="0">
              <a:buNone/>
            </a:pPr>
            <a:r>
              <a:rPr lang="hu-HU" dirty="0" smtClean="0"/>
              <a:t>CASCADE jelentése:</a:t>
            </a:r>
          </a:p>
          <a:p>
            <a:r>
              <a:rPr lang="hu-HU" dirty="0" smtClean="0"/>
              <a:t>Ha az </a:t>
            </a:r>
            <a:r>
              <a:rPr lang="hu-HU" dirty="0" err="1" smtClean="0"/>
              <a:t>osztaly</a:t>
            </a:r>
            <a:r>
              <a:rPr lang="hu-HU" dirty="0" smtClean="0"/>
              <a:t> táblából törlünk egy osztályt, akkor a </a:t>
            </a:r>
            <a:r>
              <a:rPr lang="hu-HU" dirty="0" err="1" smtClean="0"/>
              <a:t>diak</a:t>
            </a:r>
            <a:r>
              <a:rPr lang="hu-HU" dirty="0" smtClean="0"/>
              <a:t> táblából is kitörlődnek az adott osztályba járó diákok rekordjai.</a:t>
            </a:r>
          </a:p>
          <a:p>
            <a:r>
              <a:rPr lang="hu-HU" dirty="0"/>
              <a:t>Ha az </a:t>
            </a:r>
            <a:r>
              <a:rPr lang="hu-HU" dirty="0" err="1"/>
              <a:t>osztaly</a:t>
            </a:r>
            <a:r>
              <a:rPr lang="hu-HU" dirty="0"/>
              <a:t> </a:t>
            </a:r>
            <a:r>
              <a:rPr lang="hu-HU" dirty="0" smtClean="0"/>
              <a:t>táblában módosítjuk egy osztály azonosítóját, </a:t>
            </a:r>
            <a:r>
              <a:rPr lang="hu-HU" dirty="0"/>
              <a:t>akkor a </a:t>
            </a:r>
            <a:r>
              <a:rPr lang="hu-HU" dirty="0" err="1"/>
              <a:t>diak</a:t>
            </a:r>
            <a:r>
              <a:rPr lang="hu-HU" dirty="0"/>
              <a:t> </a:t>
            </a:r>
            <a:r>
              <a:rPr lang="hu-HU" dirty="0" smtClean="0"/>
              <a:t>táblában az adott osztályba járó diákoknál is átíródik az osztályjelzés.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2206110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23528" y="228600"/>
            <a:ext cx="8442520" cy="990600"/>
          </a:xfrm>
        </p:spPr>
        <p:txBody>
          <a:bodyPr>
            <a:normAutofit/>
          </a:bodyPr>
          <a:lstStyle/>
          <a:p>
            <a:r>
              <a:rPr lang="hu-HU" dirty="0" smtClean="0"/>
              <a:t>Feladat6 – FOREIGN KEY törlése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23848" cy="5257800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 startAt="2"/>
            </a:pPr>
            <a:r>
              <a:rPr lang="hu-HU" dirty="0" smtClean="0"/>
              <a:t>Törölje az idegen kulcs tulajdonságot a </a:t>
            </a:r>
            <a:r>
              <a:rPr lang="hu-HU" dirty="0" err="1" smtClean="0"/>
              <a:t>diak</a:t>
            </a:r>
            <a:r>
              <a:rPr lang="hu-HU" dirty="0" smtClean="0"/>
              <a:t> tábla </a:t>
            </a:r>
            <a:r>
              <a:rPr lang="hu-HU" dirty="0" err="1" smtClean="0"/>
              <a:t>osztaly</a:t>
            </a:r>
            <a:r>
              <a:rPr lang="hu-HU" dirty="0" smtClean="0"/>
              <a:t> mezőjéről.</a:t>
            </a:r>
          </a:p>
          <a:p>
            <a:pPr marL="0" lvl="0" indent="0">
              <a:buNone/>
            </a:pPr>
            <a:r>
              <a:rPr lang="hu-HU" dirty="0" smtClean="0"/>
              <a:t>ALTER </a:t>
            </a:r>
            <a:r>
              <a:rPr lang="hu-HU" dirty="0"/>
              <a:t>TABLE </a:t>
            </a:r>
            <a:r>
              <a:rPr lang="hu-HU" dirty="0" err="1" smtClean="0"/>
              <a:t>diak</a:t>
            </a:r>
            <a:r>
              <a:rPr lang="hu-HU" dirty="0" smtClean="0"/>
              <a:t> DROP </a:t>
            </a:r>
            <a:r>
              <a:rPr lang="hu-HU" dirty="0"/>
              <a:t>FOREIGN KEY </a:t>
            </a:r>
            <a:r>
              <a:rPr lang="hu-HU" sz="2800" dirty="0" err="1"/>
              <a:t>FK_Osztaly</a:t>
            </a:r>
            <a:r>
              <a:rPr lang="hu-HU" dirty="0" smtClean="0"/>
              <a:t>;</a:t>
            </a:r>
          </a:p>
          <a:p>
            <a:pPr marL="0" lvl="0" indent="0">
              <a:buNone/>
            </a:pPr>
            <a:r>
              <a:rPr lang="hu-HU" dirty="0" smtClean="0">
                <a:solidFill>
                  <a:schemeClr val="bg1">
                    <a:lumMod val="50000"/>
                  </a:schemeClr>
                </a:solidFill>
              </a:rPr>
              <a:t>Itt a törléshez az idegen kulcs nevét használjuk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hu-HU" dirty="0"/>
              <a:t>Futtassa le újra az idegen kulcs létrehozására szolgáló utasítást!</a:t>
            </a:r>
          </a:p>
          <a:p>
            <a:pPr marL="0" lvl="0" indent="0">
              <a:buNone/>
            </a:pP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904502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23528" y="228600"/>
            <a:ext cx="8442520" cy="990600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FOREIGN KEY létrehozása tábla létrehozásakor – 1. változat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23848" cy="5257800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hu-HU" dirty="0" smtClean="0"/>
              <a:t>Ha már kezdetben tudjuk, hogy egy táblában melyik mező lesz az idegen kulcs, akkor ezt megadhatjuk a </a:t>
            </a:r>
            <a:r>
              <a:rPr lang="hu-HU" dirty="0" err="1" smtClean="0"/>
              <a:t>Create</a:t>
            </a:r>
            <a:r>
              <a:rPr lang="hu-HU" dirty="0" smtClean="0"/>
              <a:t> </a:t>
            </a:r>
            <a:r>
              <a:rPr lang="hu-HU" dirty="0" err="1" smtClean="0"/>
              <a:t>Table</a:t>
            </a:r>
            <a:r>
              <a:rPr lang="hu-HU" dirty="0" smtClean="0"/>
              <a:t> utasításban is. </a:t>
            </a:r>
            <a:r>
              <a:rPr lang="hu-HU" b="1" dirty="0" smtClean="0"/>
              <a:t>Itt a rendszer ad nevet az idegen kulcsnak.</a:t>
            </a:r>
          </a:p>
          <a:p>
            <a:pPr>
              <a:buNone/>
            </a:pPr>
            <a:r>
              <a:rPr lang="hu-HU" dirty="0"/>
              <a:t>CREATE TABLE </a:t>
            </a:r>
            <a:r>
              <a:rPr lang="hu-HU" dirty="0" err="1"/>
              <a:t>diak</a:t>
            </a:r>
            <a:endParaRPr lang="hu-HU" dirty="0"/>
          </a:p>
          <a:p>
            <a:pPr>
              <a:buNone/>
            </a:pPr>
            <a:r>
              <a:rPr lang="hu-HU" dirty="0"/>
              <a:t>(</a:t>
            </a:r>
            <a:r>
              <a:rPr lang="hu-HU" dirty="0" err="1"/>
              <a:t>diakAZ</a:t>
            </a:r>
            <a:r>
              <a:rPr lang="hu-HU" dirty="0"/>
              <a:t> int PRIMARY KEY,</a:t>
            </a:r>
          </a:p>
          <a:p>
            <a:pPr>
              <a:buNone/>
            </a:pPr>
            <a:r>
              <a:rPr lang="hu-HU" dirty="0"/>
              <a:t> </a:t>
            </a:r>
            <a:r>
              <a:rPr lang="hu-HU" dirty="0" err="1"/>
              <a:t>nev</a:t>
            </a:r>
            <a:r>
              <a:rPr lang="hu-HU" dirty="0"/>
              <a:t> </a:t>
            </a:r>
            <a:r>
              <a:rPr lang="hu-HU" dirty="0" err="1"/>
              <a:t>varchar</a:t>
            </a:r>
            <a:r>
              <a:rPr lang="hu-HU" dirty="0"/>
              <a:t>(100) </a:t>
            </a:r>
            <a:r>
              <a:rPr lang="hu-HU" dirty="0" err="1"/>
              <a:t>not</a:t>
            </a:r>
            <a:r>
              <a:rPr lang="hu-HU" dirty="0"/>
              <a:t> null,</a:t>
            </a:r>
          </a:p>
          <a:p>
            <a:pPr>
              <a:buNone/>
            </a:pPr>
            <a:r>
              <a:rPr lang="hu-HU" dirty="0"/>
              <a:t> email </a:t>
            </a:r>
            <a:r>
              <a:rPr lang="hu-HU" dirty="0" err="1"/>
              <a:t>varchar</a:t>
            </a:r>
            <a:r>
              <a:rPr lang="hu-HU" dirty="0"/>
              <a:t>(100) </a:t>
            </a:r>
            <a:r>
              <a:rPr lang="hu-HU" dirty="0" err="1"/>
              <a:t>not</a:t>
            </a:r>
            <a:r>
              <a:rPr lang="hu-HU" dirty="0"/>
              <a:t> null UNIQUE,</a:t>
            </a:r>
          </a:p>
          <a:p>
            <a:pPr>
              <a:buNone/>
            </a:pPr>
            <a:r>
              <a:rPr lang="hu-HU" dirty="0"/>
              <a:t> </a:t>
            </a:r>
            <a:r>
              <a:rPr lang="hu-HU" dirty="0" err="1"/>
              <a:t>szuldatum</a:t>
            </a:r>
            <a:r>
              <a:rPr lang="hu-HU" dirty="0"/>
              <a:t> </a:t>
            </a:r>
            <a:r>
              <a:rPr lang="hu-HU" dirty="0" err="1"/>
              <a:t>date</a:t>
            </a:r>
            <a:r>
              <a:rPr lang="hu-HU" dirty="0"/>
              <a:t> </a:t>
            </a:r>
            <a:r>
              <a:rPr lang="hu-HU" dirty="0" err="1"/>
              <a:t>not</a:t>
            </a:r>
            <a:r>
              <a:rPr lang="hu-HU" dirty="0"/>
              <a:t> null,</a:t>
            </a:r>
          </a:p>
          <a:p>
            <a:pPr>
              <a:buNone/>
            </a:pPr>
            <a:r>
              <a:rPr lang="hu-HU" dirty="0"/>
              <a:t> </a:t>
            </a:r>
            <a:r>
              <a:rPr lang="hu-HU" dirty="0" err="1"/>
              <a:t>testverszam</a:t>
            </a:r>
            <a:r>
              <a:rPr lang="hu-HU" dirty="0"/>
              <a:t> </a:t>
            </a:r>
            <a:r>
              <a:rPr lang="hu-HU" dirty="0" err="1" smtClean="0"/>
              <a:t>tinyint</a:t>
            </a:r>
            <a:r>
              <a:rPr lang="hu-HU" dirty="0" smtClean="0"/>
              <a:t>,</a:t>
            </a:r>
          </a:p>
          <a:p>
            <a:pPr>
              <a:buNone/>
            </a:pPr>
            <a:r>
              <a:rPr lang="hu-HU" dirty="0"/>
              <a:t> </a:t>
            </a:r>
            <a:r>
              <a:rPr lang="hu-HU" dirty="0" err="1" smtClean="0"/>
              <a:t>osztaly</a:t>
            </a:r>
            <a:r>
              <a:rPr lang="hu-HU" dirty="0" smtClean="0"/>
              <a:t> </a:t>
            </a:r>
            <a:r>
              <a:rPr lang="hu-HU" dirty="0" err="1" smtClean="0"/>
              <a:t>varchar</a:t>
            </a:r>
            <a:r>
              <a:rPr lang="hu-HU" dirty="0" smtClean="0"/>
              <a:t>(6),</a:t>
            </a:r>
            <a:endParaRPr lang="hu-HU" dirty="0"/>
          </a:p>
          <a:p>
            <a:pPr>
              <a:buNone/>
            </a:pPr>
            <a:r>
              <a:rPr lang="hu-HU" dirty="0"/>
              <a:t> index(</a:t>
            </a:r>
            <a:r>
              <a:rPr lang="hu-HU" dirty="0" err="1"/>
              <a:t>nev</a:t>
            </a:r>
            <a:r>
              <a:rPr lang="hu-HU" dirty="0"/>
              <a:t>),</a:t>
            </a:r>
          </a:p>
          <a:p>
            <a:pPr>
              <a:buNone/>
            </a:pPr>
            <a:r>
              <a:rPr lang="hu-HU" dirty="0"/>
              <a:t> index(</a:t>
            </a:r>
            <a:r>
              <a:rPr lang="hu-HU" dirty="0" err="1"/>
              <a:t>szuldatum</a:t>
            </a:r>
            <a:r>
              <a:rPr lang="hu-HU" dirty="0" smtClean="0"/>
              <a:t>),</a:t>
            </a:r>
          </a:p>
          <a:p>
            <a:pPr>
              <a:buNone/>
            </a:pPr>
            <a:r>
              <a:rPr lang="hu-HU" dirty="0" smtClean="0"/>
              <a:t> FOREIGN </a:t>
            </a:r>
            <a:r>
              <a:rPr lang="hu-HU" dirty="0"/>
              <a:t>KEY </a:t>
            </a:r>
            <a:r>
              <a:rPr lang="hu-HU" dirty="0" smtClean="0"/>
              <a:t>(</a:t>
            </a:r>
            <a:r>
              <a:rPr lang="hu-HU" dirty="0" err="1" smtClean="0"/>
              <a:t>osztaly</a:t>
            </a:r>
            <a:r>
              <a:rPr lang="hu-HU" dirty="0" smtClean="0"/>
              <a:t>) </a:t>
            </a:r>
            <a:r>
              <a:rPr lang="hu-HU" dirty="0"/>
              <a:t>REFERENCES </a:t>
            </a:r>
            <a:r>
              <a:rPr lang="hu-HU" dirty="0" err="1" smtClean="0"/>
              <a:t>osztalyok</a:t>
            </a:r>
            <a:r>
              <a:rPr lang="hu-HU" dirty="0" smtClean="0"/>
              <a:t>(</a:t>
            </a:r>
            <a:r>
              <a:rPr lang="hu-HU" dirty="0" err="1" smtClean="0"/>
              <a:t>osztalyAZ</a:t>
            </a:r>
            <a:r>
              <a:rPr lang="hu-HU" dirty="0" smtClean="0"/>
              <a:t>));</a:t>
            </a:r>
            <a:endParaRPr lang="hu-HU" dirty="0"/>
          </a:p>
          <a:p>
            <a:pPr marL="0" lvl="0" indent="0">
              <a:buNone/>
            </a:pPr>
            <a:endParaRPr lang="hu-HU" dirty="0" smtClean="0"/>
          </a:p>
          <a:p>
            <a:pPr marL="0" lvl="0" indent="0">
              <a:buNone/>
            </a:pP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1587989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23528" y="228600"/>
            <a:ext cx="8442520" cy="990600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FOREIGN KEY létrehozása tábla létrehozásakor – 2. változat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23848" cy="5257800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hu-HU" dirty="0" smtClean="0"/>
              <a:t>Ha már kezdetben tudjuk, hogy egy táblában melyik mező lesz az idegen kulcs, akkor ezt megadhatjuk a </a:t>
            </a:r>
            <a:r>
              <a:rPr lang="hu-HU" dirty="0" err="1" smtClean="0"/>
              <a:t>Create</a:t>
            </a:r>
            <a:r>
              <a:rPr lang="hu-HU" dirty="0" smtClean="0"/>
              <a:t> </a:t>
            </a:r>
            <a:r>
              <a:rPr lang="hu-HU" dirty="0" err="1" smtClean="0"/>
              <a:t>Table</a:t>
            </a:r>
            <a:r>
              <a:rPr lang="hu-HU" dirty="0" smtClean="0"/>
              <a:t> utasításban is. </a:t>
            </a:r>
            <a:r>
              <a:rPr lang="hu-HU" b="1" dirty="0" smtClean="0"/>
              <a:t>Itt mi adunk nevet az idegen kulcsnak.</a:t>
            </a:r>
          </a:p>
          <a:p>
            <a:pPr>
              <a:buNone/>
            </a:pPr>
            <a:r>
              <a:rPr lang="hu-HU" dirty="0"/>
              <a:t>CREATE TABLE </a:t>
            </a:r>
            <a:r>
              <a:rPr lang="hu-HU" dirty="0" err="1"/>
              <a:t>diak</a:t>
            </a:r>
            <a:endParaRPr lang="hu-HU" dirty="0"/>
          </a:p>
          <a:p>
            <a:pPr>
              <a:buNone/>
            </a:pPr>
            <a:r>
              <a:rPr lang="hu-HU" dirty="0"/>
              <a:t>(</a:t>
            </a:r>
            <a:r>
              <a:rPr lang="hu-HU" dirty="0" err="1"/>
              <a:t>diakAZ</a:t>
            </a:r>
            <a:r>
              <a:rPr lang="hu-HU" dirty="0"/>
              <a:t> int PRIMARY KEY,</a:t>
            </a:r>
          </a:p>
          <a:p>
            <a:pPr>
              <a:buNone/>
            </a:pPr>
            <a:r>
              <a:rPr lang="hu-HU" dirty="0"/>
              <a:t> </a:t>
            </a:r>
            <a:r>
              <a:rPr lang="hu-HU" dirty="0" err="1"/>
              <a:t>nev</a:t>
            </a:r>
            <a:r>
              <a:rPr lang="hu-HU" dirty="0"/>
              <a:t> </a:t>
            </a:r>
            <a:r>
              <a:rPr lang="hu-HU" dirty="0" err="1"/>
              <a:t>varchar</a:t>
            </a:r>
            <a:r>
              <a:rPr lang="hu-HU" dirty="0"/>
              <a:t>(100) </a:t>
            </a:r>
            <a:r>
              <a:rPr lang="hu-HU" dirty="0" err="1"/>
              <a:t>not</a:t>
            </a:r>
            <a:r>
              <a:rPr lang="hu-HU" dirty="0"/>
              <a:t> null,</a:t>
            </a:r>
          </a:p>
          <a:p>
            <a:pPr>
              <a:buNone/>
            </a:pPr>
            <a:r>
              <a:rPr lang="hu-HU" dirty="0"/>
              <a:t> email </a:t>
            </a:r>
            <a:r>
              <a:rPr lang="hu-HU" dirty="0" err="1"/>
              <a:t>varchar</a:t>
            </a:r>
            <a:r>
              <a:rPr lang="hu-HU" dirty="0"/>
              <a:t>(100) </a:t>
            </a:r>
            <a:r>
              <a:rPr lang="hu-HU" dirty="0" err="1"/>
              <a:t>not</a:t>
            </a:r>
            <a:r>
              <a:rPr lang="hu-HU" dirty="0"/>
              <a:t> null UNIQUE,</a:t>
            </a:r>
          </a:p>
          <a:p>
            <a:pPr>
              <a:buNone/>
            </a:pPr>
            <a:r>
              <a:rPr lang="hu-HU" dirty="0"/>
              <a:t> </a:t>
            </a:r>
            <a:r>
              <a:rPr lang="hu-HU" dirty="0" err="1"/>
              <a:t>szuldatum</a:t>
            </a:r>
            <a:r>
              <a:rPr lang="hu-HU" dirty="0"/>
              <a:t> </a:t>
            </a:r>
            <a:r>
              <a:rPr lang="hu-HU" dirty="0" err="1"/>
              <a:t>date</a:t>
            </a:r>
            <a:r>
              <a:rPr lang="hu-HU" dirty="0"/>
              <a:t> </a:t>
            </a:r>
            <a:r>
              <a:rPr lang="hu-HU" dirty="0" err="1"/>
              <a:t>not</a:t>
            </a:r>
            <a:r>
              <a:rPr lang="hu-HU" dirty="0"/>
              <a:t> null,</a:t>
            </a:r>
          </a:p>
          <a:p>
            <a:pPr>
              <a:buNone/>
            </a:pPr>
            <a:r>
              <a:rPr lang="hu-HU" dirty="0"/>
              <a:t> </a:t>
            </a:r>
            <a:r>
              <a:rPr lang="hu-HU" dirty="0" err="1"/>
              <a:t>testverszam</a:t>
            </a:r>
            <a:r>
              <a:rPr lang="hu-HU" dirty="0"/>
              <a:t> </a:t>
            </a:r>
            <a:r>
              <a:rPr lang="hu-HU" dirty="0" err="1" smtClean="0"/>
              <a:t>tinyint</a:t>
            </a:r>
            <a:r>
              <a:rPr lang="hu-HU" dirty="0" smtClean="0"/>
              <a:t>,</a:t>
            </a:r>
          </a:p>
          <a:p>
            <a:pPr>
              <a:buNone/>
            </a:pPr>
            <a:r>
              <a:rPr lang="hu-HU" dirty="0"/>
              <a:t> </a:t>
            </a:r>
            <a:r>
              <a:rPr lang="hu-HU" dirty="0" err="1" smtClean="0"/>
              <a:t>osztaly</a:t>
            </a:r>
            <a:r>
              <a:rPr lang="hu-HU" dirty="0" smtClean="0"/>
              <a:t> </a:t>
            </a:r>
            <a:r>
              <a:rPr lang="hu-HU" dirty="0" err="1" smtClean="0"/>
              <a:t>varchar</a:t>
            </a:r>
            <a:r>
              <a:rPr lang="hu-HU" dirty="0" smtClean="0"/>
              <a:t>(6),</a:t>
            </a:r>
            <a:endParaRPr lang="hu-HU" dirty="0"/>
          </a:p>
          <a:p>
            <a:pPr>
              <a:buNone/>
            </a:pPr>
            <a:r>
              <a:rPr lang="hu-HU" dirty="0"/>
              <a:t> index(</a:t>
            </a:r>
            <a:r>
              <a:rPr lang="hu-HU" dirty="0" err="1"/>
              <a:t>nev</a:t>
            </a:r>
            <a:r>
              <a:rPr lang="hu-HU" dirty="0"/>
              <a:t>),</a:t>
            </a:r>
          </a:p>
          <a:p>
            <a:pPr>
              <a:buNone/>
            </a:pPr>
            <a:r>
              <a:rPr lang="hu-HU" dirty="0"/>
              <a:t> index(</a:t>
            </a:r>
            <a:r>
              <a:rPr lang="hu-HU" dirty="0" err="1"/>
              <a:t>szuldatum</a:t>
            </a:r>
            <a:r>
              <a:rPr lang="hu-HU" dirty="0" smtClean="0"/>
              <a:t>),</a:t>
            </a:r>
          </a:p>
          <a:p>
            <a:pPr>
              <a:buNone/>
            </a:pPr>
            <a:r>
              <a:rPr lang="hu-HU" dirty="0" smtClean="0"/>
              <a:t> CONSTRAINT  </a:t>
            </a:r>
            <a:r>
              <a:rPr lang="hu-HU" dirty="0" err="1" smtClean="0"/>
              <a:t>FK_osztaly</a:t>
            </a:r>
            <a:r>
              <a:rPr lang="hu-HU" dirty="0" smtClean="0"/>
              <a:t> FOREIGN </a:t>
            </a:r>
            <a:r>
              <a:rPr lang="hu-HU" dirty="0"/>
              <a:t>KEY </a:t>
            </a:r>
            <a:r>
              <a:rPr lang="hu-HU" dirty="0" smtClean="0"/>
              <a:t>(</a:t>
            </a:r>
            <a:r>
              <a:rPr lang="hu-HU" dirty="0" err="1" smtClean="0"/>
              <a:t>osztaly</a:t>
            </a:r>
            <a:r>
              <a:rPr lang="hu-HU" dirty="0" smtClean="0"/>
              <a:t>) </a:t>
            </a:r>
            <a:r>
              <a:rPr lang="hu-HU" dirty="0"/>
              <a:t>REFERENCES </a:t>
            </a:r>
            <a:r>
              <a:rPr lang="hu-HU" dirty="0" err="1" smtClean="0"/>
              <a:t>osztalyok</a:t>
            </a:r>
            <a:r>
              <a:rPr lang="hu-HU" dirty="0" smtClean="0"/>
              <a:t>(</a:t>
            </a:r>
            <a:r>
              <a:rPr lang="hu-HU" dirty="0" err="1" smtClean="0"/>
              <a:t>osztalyAZ</a:t>
            </a:r>
            <a:r>
              <a:rPr lang="hu-HU" dirty="0" smtClean="0"/>
              <a:t>));</a:t>
            </a:r>
            <a:endParaRPr lang="hu-HU" dirty="0"/>
          </a:p>
          <a:p>
            <a:pPr marL="0" lvl="0" indent="0">
              <a:buNone/>
            </a:pPr>
            <a:endParaRPr lang="hu-HU" dirty="0" smtClean="0"/>
          </a:p>
          <a:p>
            <a:pPr marL="0" lvl="0" indent="0">
              <a:buNone/>
            </a:pP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36626984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án">
  <a:themeElements>
    <a:clrScheme name="Mediá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á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á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734</TotalTime>
  <Words>948</Words>
  <Application>Microsoft Office PowerPoint</Application>
  <PresentationFormat>Diavetítés a képernyőre (4:3 oldalarány)</PresentationFormat>
  <Paragraphs>132</Paragraphs>
  <Slides>19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19</vt:i4>
      </vt:variant>
    </vt:vector>
  </HeadingPairs>
  <TitlesOfParts>
    <vt:vector size="24" baseType="lpstr">
      <vt:lpstr>Calibri</vt:lpstr>
      <vt:lpstr>Tw Cen MT</vt:lpstr>
      <vt:lpstr>Wingdings</vt:lpstr>
      <vt:lpstr>Wingdings 2</vt:lpstr>
      <vt:lpstr>Medián</vt:lpstr>
      <vt:lpstr>SQL NYELV</vt:lpstr>
      <vt:lpstr>Feladat1 – Táblalétrehozás megkötésekkel</vt:lpstr>
      <vt:lpstr>Adatdefiníciós utasítások</vt:lpstr>
      <vt:lpstr>Feladat2 - INDEX</vt:lpstr>
      <vt:lpstr>Index törlése</vt:lpstr>
      <vt:lpstr>Index hozzáadása</vt:lpstr>
      <vt:lpstr>Index hozzáadása</vt:lpstr>
      <vt:lpstr>Feladat3 – PRIMARY KEY</vt:lpstr>
      <vt:lpstr>Elsődleges kulcs törlése, hozzáadása</vt:lpstr>
      <vt:lpstr>Feladat4 – Új mező hozzáadása, új tábla készítése</vt:lpstr>
      <vt:lpstr>Új mező hozzáadása, új tábla készítése</vt:lpstr>
      <vt:lpstr>Feladat5 – Tábla feltöltése</vt:lpstr>
      <vt:lpstr>Tábla feltöltése</vt:lpstr>
      <vt:lpstr>Feladat6 – FOREIGN KEY létrehozása</vt:lpstr>
      <vt:lpstr>Feladat6 – FOREIGN KEY RESTRICT/CASCADE</vt:lpstr>
      <vt:lpstr>Feladat6 – FOREIGN KEY RESTRICT/CASCADE</vt:lpstr>
      <vt:lpstr>Feladat6 – FOREIGN KEY törlése</vt:lpstr>
      <vt:lpstr>FOREIGN KEY létrehozása tábla létrehozásakor – 1. változat</vt:lpstr>
      <vt:lpstr>FOREIGN KEY létrehozása tábla létrehozásakor – 2. változat</vt:lpstr>
    </vt:vector>
  </TitlesOfParts>
  <Company>Vasvári Pál Közgazdasági Szki.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phpMyAdmin</dc:title>
  <dc:creator>tunde</dc:creator>
  <cp:lastModifiedBy>Kádár Tünde</cp:lastModifiedBy>
  <cp:revision>110</cp:revision>
  <dcterms:created xsi:type="dcterms:W3CDTF">2013-09-19T13:53:31Z</dcterms:created>
  <dcterms:modified xsi:type="dcterms:W3CDTF">2023-02-23T11:17:28Z</dcterms:modified>
</cp:coreProperties>
</file>